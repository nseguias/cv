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9EE7E7-261E-45FF-93C1-06749C9AC136}" v="1059" dt="2022-10-04T10:59:11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9" autoAdjust="0"/>
    <p:restoredTop sz="94660"/>
  </p:normalViewPr>
  <p:slideViewPr>
    <p:cSldViewPr snapToGrid="0">
      <p:cViewPr>
        <p:scale>
          <a:sx n="170" d="100"/>
          <a:sy n="170" d="100"/>
        </p:scale>
        <p:origin x="-1152" y="481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D44AC-FD6F-7E48-BB7B-C56D77510F75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1E35B-48D7-1D45-8EB7-972A2AF21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1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85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68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41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54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01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75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17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9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074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EE0FD-A9D1-48F4-9885-896FE884837E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89884-3606-4C42-85FA-00FEC98502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17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nseguias" TargetMode="External"/><Relationship Id="rId7" Type="http://schemas.openxmlformats.org/officeDocument/2006/relationships/image" Target="../media/image4.jpeg"/><Relationship Id="rId2" Type="http://schemas.openxmlformats.org/officeDocument/2006/relationships/hyperlink" Target="mailto:nahemseguias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53"/>
          <p:cNvSpPr txBox="1"/>
          <p:nvPr/>
        </p:nvSpPr>
        <p:spPr>
          <a:xfrm>
            <a:off x="44670" y="4152208"/>
            <a:ext cx="2425752" cy="18456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45770">
              <a:lnSpc>
                <a:spcPct val="150000"/>
              </a:lnSpc>
            </a:pPr>
            <a:r>
              <a:rPr lang="es-ES_tradnl" sz="1200" b="1" dirty="0">
                <a:latin typeface="Lato"/>
                <a:ea typeface="Lato"/>
                <a:cs typeface="Lato"/>
              </a:rPr>
              <a:t> BLOCKCHAIN</a:t>
            </a:r>
            <a:endParaRPr lang="es-ES" dirty="0"/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Smart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Contract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development</a:t>
            </a:r>
            <a:endParaRPr lang="es-ES_tradnl" sz="850" dirty="0">
              <a:latin typeface="Lato"/>
              <a:ea typeface="+mn-lt"/>
              <a:cs typeface="+mn-lt"/>
            </a:endParaRP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PoW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mining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infrastructure</a:t>
            </a:r>
            <a:endParaRPr lang="es-ES_tradnl" sz="850" dirty="0" err="1">
              <a:latin typeface="Lato"/>
              <a:cs typeface="Calibri"/>
            </a:endParaRP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DeFI</a:t>
            </a:r>
            <a:r>
              <a:rPr lang="es-ES_tradnl" sz="850" dirty="0">
                <a:latin typeface="Lato"/>
                <a:ea typeface="+mn-lt"/>
                <a:cs typeface="+mn-lt"/>
              </a:rPr>
              <a:t>: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yield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farming</a:t>
            </a:r>
            <a:r>
              <a:rPr lang="es-ES_tradnl" sz="850" dirty="0">
                <a:latin typeface="Lato"/>
                <a:ea typeface="+mn-lt"/>
                <a:cs typeface="+mn-lt"/>
              </a:rPr>
              <a:t>,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staking</a:t>
            </a:r>
            <a:r>
              <a:rPr lang="es-ES_tradnl" sz="850" dirty="0">
                <a:latin typeface="Lato"/>
                <a:ea typeface="+mn-lt"/>
                <a:cs typeface="+mn-lt"/>
              </a:rPr>
              <a:t>,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nodes</a:t>
            </a:r>
            <a:endParaRPr lang="es-ES_tradnl" sz="850" dirty="0">
              <a:latin typeface="Lato"/>
              <a:ea typeface="+mn-lt"/>
              <a:cs typeface="+mn-lt"/>
            </a:endParaRP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Web3: NFT, DAO, ENS,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wallets</a:t>
            </a:r>
            <a:endParaRPr lang="es-ES_tradnl" sz="850" dirty="0">
              <a:latin typeface="Lato"/>
              <a:ea typeface="+mn-lt"/>
              <a:cs typeface="+mn-lt"/>
            </a:endParaRP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Co-founder</a:t>
            </a:r>
            <a:r>
              <a:rPr lang="es-ES_tradnl" sz="850" dirty="0">
                <a:latin typeface="Lato"/>
                <a:ea typeface="+mn-lt"/>
                <a:cs typeface="+mn-lt"/>
              </a:rPr>
              <a:t> and speaker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of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Criptopedia</a:t>
            </a:r>
            <a:endParaRPr lang="es-ES_tradnl" sz="850" dirty="0">
              <a:latin typeface="Lato"/>
              <a:ea typeface="+mn-lt"/>
              <a:cs typeface="+mn-lt"/>
            </a:endParaRP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Different</a:t>
            </a:r>
            <a:r>
              <a:rPr lang="es-ES_tradnl" sz="850" dirty="0">
                <a:latin typeface="Lato"/>
                <a:ea typeface="+mn-lt"/>
                <a:cs typeface="+mn-lt"/>
              </a:rPr>
              <a:t> 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consensus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mechanisms</a:t>
            </a: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MEV,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flashbots</a:t>
            </a:r>
            <a:endParaRPr lang="es-ES_tradnl" sz="850" dirty="0">
              <a:latin typeface="Lato"/>
              <a:ea typeface="+mn-lt"/>
              <a:cs typeface="+mn-lt"/>
            </a:endParaRP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Ethereum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scaling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solutions</a:t>
            </a:r>
            <a:r>
              <a:rPr lang="es-ES_tradnl" sz="850" dirty="0">
                <a:latin typeface="Lato"/>
                <a:ea typeface="+mn-lt"/>
                <a:cs typeface="+mn-lt"/>
              </a:rPr>
              <a:t>.</a:t>
            </a:r>
          </a:p>
          <a:p>
            <a:r>
              <a:rPr lang="es-ES_tradnl" sz="850" dirty="0">
                <a:latin typeface="Lato"/>
                <a:ea typeface="+mn-lt"/>
                <a:cs typeface="+mn-lt"/>
              </a:rPr>
              <a:t>         - Security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best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practices</a:t>
            </a:r>
            <a:endParaRPr lang="es-ES_tradnl" sz="850" dirty="0">
              <a:latin typeface="Lato"/>
              <a:ea typeface="+mn-lt"/>
              <a:cs typeface="+mn-lt"/>
            </a:endParaRPr>
          </a:p>
          <a:p>
            <a:endParaRPr lang="es-ES_tradnl" sz="800" dirty="0">
              <a:latin typeface="Lato"/>
              <a:ea typeface="+mn-lt"/>
              <a:cs typeface="+mn-lt"/>
            </a:endParaRPr>
          </a:p>
          <a:p>
            <a:pPr marL="273050">
              <a:lnSpc>
                <a:spcPct val="150000"/>
              </a:lnSpc>
            </a:pPr>
            <a:endParaRPr lang="es-ES_tradnl" sz="850" dirty="0">
              <a:ea typeface="+mn-lt"/>
              <a:cs typeface="+mn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347554" y="1983309"/>
            <a:ext cx="4218138" cy="46782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271145" algn="just">
              <a:lnSpc>
                <a:spcPct val="150000"/>
              </a:lnSpc>
            </a:pPr>
            <a:r>
              <a:rPr lang="es-ES_tradnl" sz="1200" b="1" dirty="0">
                <a:latin typeface="Lato"/>
                <a:ea typeface="Lato"/>
                <a:cs typeface="Lato"/>
              </a:rPr>
              <a:t>         WORK EXPERIENCE</a:t>
            </a:r>
            <a:endParaRPr lang="es-ES_tradnl" sz="1200" dirty="0">
              <a:latin typeface="Lato" charset="0"/>
              <a:ea typeface="Lato" charset="0"/>
              <a:cs typeface="Lato" charset="0"/>
            </a:endParaRPr>
          </a:p>
          <a:p>
            <a:pPr marL="267970" algn="just">
              <a:lnSpc>
                <a:spcPct val="150000"/>
              </a:lnSpc>
              <a:tabLst>
                <a:tab pos="3135313" algn="l"/>
              </a:tabLst>
            </a:pPr>
            <a:r>
              <a:rPr lang="es-ES" sz="800" dirty="0" err="1">
                <a:latin typeface="Lato"/>
                <a:ea typeface="Lato"/>
                <a:cs typeface="Lato"/>
              </a:rPr>
              <a:t>Terraform</a:t>
            </a:r>
            <a:r>
              <a:rPr lang="es-ES" sz="800" dirty="0">
                <a:latin typeface="Lato"/>
                <a:ea typeface="Lato"/>
                <a:cs typeface="Lato"/>
              </a:rPr>
              <a:t> </a:t>
            </a:r>
            <a:r>
              <a:rPr lang="es-ES" sz="800" dirty="0" err="1">
                <a:latin typeface="Lato"/>
                <a:ea typeface="Lato"/>
                <a:cs typeface="Lato"/>
              </a:rPr>
              <a:t>Labs</a:t>
            </a:r>
            <a:r>
              <a:rPr lang="es-ES" sz="800" dirty="0">
                <a:latin typeface="Lato"/>
                <a:ea typeface="Lato"/>
                <a:cs typeface="Lato"/>
              </a:rPr>
              <a:t> (Terra) </a:t>
            </a:r>
            <a:r>
              <a:rPr lang="mr-IN" sz="800" dirty="0">
                <a:latin typeface="Lato"/>
                <a:ea typeface="Lato"/>
                <a:cs typeface="Lato" charset="0"/>
              </a:rPr>
              <a:t>–</a:t>
            </a:r>
            <a:r>
              <a:rPr lang="es-ES" sz="800" dirty="0">
                <a:latin typeface="Lato"/>
                <a:ea typeface="Lato"/>
                <a:cs typeface="Lato"/>
              </a:rPr>
              <a:t> Remote.                                                              2022-October</a:t>
            </a:r>
            <a:endParaRPr lang="en-US" sz="800" dirty="0">
              <a:ea typeface="+mn-lt"/>
              <a:cs typeface="+mn-lt"/>
            </a:endParaRPr>
          </a:p>
          <a:p>
            <a:pPr marL="179070" lvl="1" indent="86995" algn="just">
              <a:tabLst>
                <a:tab pos="3135313" algn="l"/>
              </a:tabLst>
            </a:pPr>
            <a:r>
              <a:rPr lang="es-ES" sz="900" b="1" dirty="0">
                <a:latin typeface="Lato"/>
                <a:ea typeface="Lato"/>
                <a:cs typeface="Lato"/>
              </a:rPr>
              <a:t>SMART CONTRACT DEVELOPER</a:t>
            </a:r>
            <a:endParaRPr lang="es-ES" sz="900">
              <a:cs typeface="Calibri"/>
            </a:endParaRPr>
          </a:p>
          <a:p>
            <a:pPr marL="365125" lvl="1" algn="just">
              <a:tabLst>
                <a:tab pos="3135313" algn="l"/>
              </a:tabLst>
            </a:pPr>
            <a:r>
              <a:rPr lang="es-ES" sz="800" dirty="0">
                <a:latin typeface="Lato"/>
                <a:ea typeface="+mn-lt"/>
                <a:cs typeface="+mn-lt"/>
              </a:rPr>
              <a:t>- Use software </a:t>
            </a:r>
            <a:r>
              <a:rPr lang="es-ES" sz="800" dirty="0" err="1">
                <a:latin typeface="Lato"/>
                <a:ea typeface="+mn-lt"/>
                <a:cs typeface="+mn-lt"/>
              </a:rPr>
              <a:t>development</a:t>
            </a:r>
            <a:r>
              <a:rPr lang="es-ES" sz="800" dirty="0">
                <a:latin typeface="Lato"/>
                <a:ea typeface="+mn-lt"/>
                <a:cs typeface="+mn-lt"/>
              </a:rPr>
              <a:t> </a:t>
            </a:r>
            <a:r>
              <a:rPr lang="es-ES" sz="800" dirty="0" err="1">
                <a:latin typeface="Lato"/>
                <a:ea typeface="+mn-lt"/>
                <a:cs typeface="+mn-lt"/>
              </a:rPr>
              <a:t>languages</a:t>
            </a:r>
            <a:r>
              <a:rPr lang="es-ES" sz="800" dirty="0">
                <a:latin typeface="Lato"/>
                <a:ea typeface="+mn-lt"/>
                <a:cs typeface="+mn-lt"/>
              </a:rPr>
              <a:t> and </a:t>
            </a:r>
            <a:r>
              <a:rPr lang="es-ES" sz="800" dirty="0" err="1">
                <a:latin typeface="Lato"/>
                <a:ea typeface="+mn-lt"/>
                <a:cs typeface="+mn-lt"/>
              </a:rPr>
              <a:t>tools</a:t>
            </a:r>
            <a:r>
              <a:rPr lang="es-ES" sz="800" dirty="0">
                <a:latin typeface="Lato"/>
                <a:ea typeface="+mn-lt"/>
                <a:cs typeface="+mn-lt"/>
              </a:rPr>
              <a:t> </a:t>
            </a:r>
            <a:r>
              <a:rPr lang="es-ES" sz="800" dirty="0" err="1">
                <a:latin typeface="Lato"/>
                <a:ea typeface="+mn-lt"/>
                <a:cs typeface="+mn-lt"/>
              </a:rPr>
              <a:t>to</a:t>
            </a:r>
            <a:r>
              <a:rPr lang="es-ES" sz="800" dirty="0">
                <a:latin typeface="Lato"/>
                <a:ea typeface="+mn-lt"/>
                <a:cs typeface="+mn-lt"/>
              </a:rPr>
              <a:t> </a:t>
            </a:r>
            <a:r>
              <a:rPr lang="es-ES" sz="800" dirty="0" err="1">
                <a:latin typeface="Lato"/>
                <a:ea typeface="+mn-lt"/>
                <a:cs typeface="+mn-lt"/>
              </a:rPr>
              <a:t>research</a:t>
            </a:r>
            <a:r>
              <a:rPr lang="es-ES" sz="800" dirty="0">
                <a:latin typeface="Lato"/>
                <a:ea typeface="+mn-lt"/>
                <a:cs typeface="+mn-lt"/>
              </a:rPr>
              <a:t>, </a:t>
            </a:r>
            <a:r>
              <a:rPr lang="es-ES" sz="800" dirty="0" err="1">
                <a:latin typeface="Lato"/>
                <a:ea typeface="+mn-lt"/>
                <a:cs typeface="+mn-lt"/>
              </a:rPr>
              <a:t>design</a:t>
            </a:r>
            <a:r>
              <a:rPr lang="es-ES" sz="800" dirty="0">
                <a:latin typeface="Lato"/>
                <a:ea typeface="+mn-lt"/>
                <a:cs typeface="+mn-lt"/>
              </a:rPr>
              <a:t>, </a:t>
            </a:r>
            <a:r>
              <a:rPr lang="es-ES" sz="800" dirty="0" err="1">
                <a:latin typeface="Lato"/>
                <a:ea typeface="+mn-lt"/>
                <a:cs typeface="+mn-lt"/>
              </a:rPr>
              <a:t>implement</a:t>
            </a:r>
            <a:r>
              <a:rPr lang="es-ES" sz="800" dirty="0">
                <a:latin typeface="Lato"/>
                <a:ea typeface="+mn-lt"/>
                <a:cs typeface="+mn-lt"/>
              </a:rPr>
              <a:t>, </a:t>
            </a:r>
            <a:r>
              <a:rPr lang="es-ES" sz="800" dirty="0" err="1">
                <a:latin typeface="Lato"/>
                <a:ea typeface="+mn-lt"/>
                <a:cs typeface="+mn-lt"/>
              </a:rPr>
              <a:t>manage</a:t>
            </a:r>
            <a:r>
              <a:rPr lang="es-ES" sz="800" dirty="0">
                <a:latin typeface="Lato"/>
                <a:ea typeface="+mn-lt"/>
                <a:cs typeface="+mn-lt"/>
              </a:rPr>
              <a:t>, test, and </a:t>
            </a:r>
            <a:r>
              <a:rPr lang="es-ES" sz="800" dirty="0" err="1">
                <a:latin typeface="Lato"/>
                <a:ea typeface="+mn-lt"/>
                <a:cs typeface="+mn-lt"/>
              </a:rPr>
              <a:t>evaluate</a:t>
            </a:r>
            <a:r>
              <a:rPr lang="es-ES" sz="800" dirty="0">
                <a:latin typeface="Lato"/>
                <a:ea typeface="+mn-lt"/>
                <a:cs typeface="+mn-lt"/>
              </a:rPr>
              <a:t> software </a:t>
            </a:r>
            <a:r>
              <a:rPr lang="es-ES" sz="800" dirty="0" err="1">
                <a:latin typeface="Lato"/>
                <a:ea typeface="+mn-lt"/>
                <a:cs typeface="+mn-lt"/>
              </a:rPr>
              <a:t>programs</a:t>
            </a:r>
            <a:r>
              <a:rPr lang="es-ES" sz="800" dirty="0">
                <a:latin typeface="Lato"/>
                <a:ea typeface="+mn-lt"/>
                <a:cs typeface="+mn-lt"/>
              </a:rPr>
              <a:t>.</a:t>
            </a:r>
            <a:endParaRPr lang="en-US" sz="800" dirty="0">
              <a:latin typeface="Lato"/>
              <a:ea typeface="+mn-lt"/>
              <a:cs typeface="+mn-lt"/>
            </a:endParaRPr>
          </a:p>
          <a:p>
            <a:pPr marL="365125" lvl="1" algn="just">
              <a:tabLst>
                <a:tab pos="3135313" algn="l"/>
              </a:tabLst>
            </a:pPr>
            <a:r>
              <a:rPr lang="es-ES" sz="800" dirty="0">
                <a:latin typeface="Lato"/>
                <a:ea typeface="Lato"/>
                <a:cs typeface="Lato"/>
              </a:rPr>
              <a:t>- </a:t>
            </a:r>
            <a:r>
              <a:rPr lang="es-ES" sz="800" dirty="0" err="1">
                <a:latin typeface="Lato"/>
                <a:ea typeface="Lato"/>
                <a:cs typeface="Lato"/>
              </a:rPr>
              <a:t>Write</a:t>
            </a:r>
            <a:r>
              <a:rPr lang="es-ES" sz="800" dirty="0">
                <a:latin typeface="Lato"/>
                <a:ea typeface="Lato"/>
                <a:cs typeface="Lato"/>
              </a:rPr>
              <a:t>, </a:t>
            </a:r>
            <a:r>
              <a:rPr lang="es-ES" sz="800" dirty="0" err="1">
                <a:latin typeface="Lato"/>
                <a:ea typeface="Lato"/>
                <a:cs typeface="Lato"/>
              </a:rPr>
              <a:t>implement</a:t>
            </a:r>
            <a:r>
              <a:rPr lang="es-ES" sz="800" dirty="0">
                <a:latin typeface="Lato"/>
                <a:ea typeface="Lato"/>
                <a:cs typeface="Lato"/>
              </a:rPr>
              <a:t> and test </a:t>
            </a:r>
            <a:r>
              <a:rPr lang="es-ES" sz="800" dirty="0" err="1">
                <a:latin typeface="Lato"/>
                <a:ea typeface="Lato"/>
                <a:cs typeface="Lato"/>
              </a:rPr>
              <a:t>smart</a:t>
            </a:r>
            <a:r>
              <a:rPr lang="es-ES" sz="800" dirty="0">
                <a:latin typeface="Lato"/>
                <a:ea typeface="Lato"/>
                <a:cs typeface="Lato"/>
              </a:rPr>
              <a:t> </a:t>
            </a:r>
            <a:r>
              <a:rPr lang="es-ES" sz="800" dirty="0" err="1">
                <a:latin typeface="Lato"/>
                <a:ea typeface="Lato"/>
                <a:cs typeface="Lato"/>
              </a:rPr>
              <a:t>contracts</a:t>
            </a:r>
            <a:r>
              <a:rPr lang="es-ES" sz="800" dirty="0">
                <a:latin typeface="Lato"/>
                <a:ea typeface="Lato"/>
                <a:cs typeface="Lato"/>
              </a:rPr>
              <a:t> in </a:t>
            </a:r>
            <a:r>
              <a:rPr lang="es-ES" sz="800" dirty="0" err="1">
                <a:latin typeface="Lato"/>
                <a:ea typeface="Lato"/>
                <a:cs typeface="Lato"/>
              </a:rPr>
              <a:t>Rust</a:t>
            </a:r>
            <a:r>
              <a:rPr lang="es-ES" sz="800" dirty="0">
                <a:latin typeface="Lato"/>
                <a:ea typeface="Lato"/>
                <a:cs typeface="Lato"/>
              </a:rPr>
              <a:t> &amp; </a:t>
            </a:r>
            <a:r>
              <a:rPr lang="es-ES" sz="800" dirty="0" err="1">
                <a:latin typeface="Lato"/>
                <a:ea typeface="Lato"/>
                <a:cs typeface="Lato"/>
              </a:rPr>
              <a:t>CosmWasm</a:t>
            </a:r>
            <a:r>
              <a:rPr lang="es-ES" sz="800" dirty="0">
                <a:latin typeface="Lato"/>
                <a:ea typeface="Lato"/>
                <a:cs typeface="Lato"/>
              </a:rPr>
              <a:t>.</a:t>
            </a:r>
          </a:p>
          <a:p>
            <a:pPr lvl="1" indent="-92075" algn="just">
              <a:tabLst>
                <a:tab pos="3135313" algn="l"/>
              </a:tabLst>
            </a:pPr>
            <a:r>
              <a:rPr lang="es-ES" sz="800" dirty="0">
                <a:latin typeface="Lato"/>
                <a:ea typeface="Lato"/>
                <a:cs typeface="Lato"/>
              </a:rPr>
              <a:t>- </a:t>
            </a:r>
            <a:r>
              <a:rPr lang="es-ES" sz="800" dirty="0" err="1">
                <a:latin typeface="Lato"/>
                <a:ea typeface="Lato"/>
                <a:cs typeface="Lato"/>
              </a:rPr>
              <a:t>Evaluate</a:t>
            </a:r>
            <a:r>
              <a:rPr lang="es-ES" sz="800" dirty="0">
                <a:latin typeface="Lato"/>
                <a:ea typeface="Lato"/>
                <a:cs typeface="Lato"/>
              </a:rPr>
              <a:t> interfaces and </a:t>
            </a:r>
            <a:r>
              <a:rPr lang="es-ES" sz="800" dirty="0" err="1">
                <a:latin typeface="Lato"/>
                <a:ea typeface="Lato"/>
                <a:cs typeface="Lato"/>
              </a:rPr>
              <a:t>develop</a:t>
            </a:r>
            <a:r>
              <a:rPr lang="es-ES" sz="800" dirty="0">
                <a:latin typeface="Lato"/>
                <a:ea typeface="Lato"/>
                <a:cs typeface="Lato"/>
              </a:rPr>
              <a:t> </a:t>
            </a:r>
            <a:r>
              <a:rPr lang="es-ES" sz="800" dirty="0" err="1">
                <a:latin typeface="Lato"/>
                <a:ea typeface="Lato"/>
                <a:cs typeface="Lato"/>
              </a:rPr>
              <a:t>specifications</a:t>
            </a:r>
            <a:r>
              <a:rPr lang="es-ES" sz="800" dirty="0">
                <a:latin typeface="Lato"/>
                <a:ea typeface="Lato"/>
                <a:cs typeface="Lato"/>
              </a:rPr>
              <a:t> and performance </a:t>
            </a:r>
            <a:r>
              <a:rPr lang="es-ES" sz="800" dirty="0" err="1">
                <a:latin typeface="Lato"/>
                <a:ea typeface="Lato"/>
                <a:cs typeface="Lato"/>
              </a:rPr>
              <a:t>requirements</a:t>
            </a:r>
            <a:r>
              <a:rPr lang="es-ES" sz="800" dirty="0">
                <a:latin typeface="Lato"/>
                <a:ea typeface="Lato"/>
                <a:cs typeface="Lato"/>
              </a:rPr>
              <a:t>.</a:t>
            </a:r>
          </a:p>
          <a:p>
            <a:pPr marL="365125" lvl="1" algn="just">
              <a:lnSpc>
                <a:spcPct val="150000"/>
              </a:lnSpc>
              <a:tabLst>
                <a:tab pos="3135313" algn="l"/>
              </a:tabLst>
            </a:pPr>
            <a:endParaRPr lang="es-ES" sz="800" dirty="0">
              <a:latin typeface="Lato"/>
              <a:ea typeface="Lato"/>
              <a:cs typeface="Lato"/>
            </a:endParaRPr>
          </a:p>
          <a:p>
            <a:pPr marL="267970" algn="just">
              <a:tabLst>
                <a:tab pos="3135313" algn="l"/>
              </a:tabLst>
            </a:pPr>
            <a:r>
              <a:rPr lang="es-ES_tradnl" sz="800" dirty="0">
                <a:latin typeface="Lato"/>
                <a:ea typeface="Lato"/>
                <a:cs typeface="Lato"/>
              </a:rPr>
              <a:t>SIX (Swiss Stock Exchange) </a:t>
            </a:r>
            <a:r>
              <a:rPr lang="mr-IN" sz="800" dirty="0">
                <a:latin typeface="Lato"/>
                <a:ea typeface="Lato"/>
                <a:cs typeface="Lato"/>
              </a:rPr>
              <a:t>–</a:t>
            </a:r>
            <a:r>
              <a:rPr lang="es-ES_tradnl" sz="800" dirty="0">
                <a:latin typeface="Lato"/>
                <a:ea typeface="Lato"/>
                <a:cs typeface="Lato"/>
              </a:rPr>
              <a:t> Madrid.                                                             2018-2022</a:t>
            </a:r>
            <a:endParaRPr lang="es-ES_tradnl" dirty="0">
              <a:cs typeface="Calibri"/>
            </a:endParaRPr>
          </a:p>
          <a:p>
            <a:pPr marL="179070" lvl="1" indent="86995" algn="just"/>
            <a:r>
              <a:rPr lang="es-ES_tradnl" sz="900" b="1" dirty="0">
                <a:latin typeface="Lato"/>
                <a:ea typeface="Lato"/>
                <a:cs typeface="Lato"/>
              </a:rPr>
              <a:t>SYSTEM ENGINEER</a:t>
            </a:r>
            <a:endParaRPr lang="es-ES_tradnl" sz="900" dirty="0">
              <a:latin typeface="Lato"/>
              <a:ea typeface="Lato"/>
              <a:cs typeface="Lato"/>
            </a:endParaRPr>
          </a:p>
          <a:p>
            <a:pPr marL="447675" lvl="1" indent="-82550" algn="just">
              <a:buFontTx/>
              <a:buChar char="-"/>
            </a:pPr>
            <a:r>
              <a:rPr lang="es-ES_tradnl" sz="800" dirty="0" err="1">
                <a:latin typeface="Lato" charset="0"/>
                <a:ea typeface="Lato" charset="0"/>
                <a:cs typeface="Lato" charset="0"/>
              </a:rPr>
              <a:t>Troubleshoot</a:t>
            </a:r>
            <a:r>
              <a:rPr lang="es-ES_tradnl" sz="800" dirty="0">
                <a:latin typeface="Lato" charset="0"/>
                <a:ea typeface="Lato" charset="0"/>
                <a:cs typeface="Lato" charset="0"/>
              </a:rPr>
              <a:t> </a:t>
            </a:r>
            <a:r>
              <a:rPr lang="es-ES_tradnl" sz="800" dirty="0" err="1">
                <a:latin typeface="Lato" charset="0"/>
                <a:ea typeface="Lato" charset="0"/>
                <a:cs typeface="Lato" charset="0"/>
              </a:rPr>
              <a:t>escalated</a:t>
            </a:r>
            <a:r>
              <a:rPr lang="es-ES_tradnl" sz="800" dirty="0">
                <a:latin typeface="Lato" charset="0"/>
                <a:ea typeface="Lato" charset="0"/>
                <a:cs typeface="Lato" charset="0"/>
              </a:rPr>
              <a:t> </a:t>
            </a:r>
            <a:r>
              <a:rPr lang="es-ES_tradnl" sz="800" dirty="0" err="1">
                <a:latin typeface="Lato" charset="0"/>
                <a:ea typeface="Lato" charset="0"/>
                <a:cs typeface="Lato" charset="0"/>
              </a:rPr>
              <a:t>infrastructure</a:t>
            </a:r>
            <a:r>
              <a:rPr lang="es-ES_tradnl" sz="800" dirty="0">
                <a:latin typeface="Lato" charset="0"/>
                <a:ea typeface="Lato" charset="0"/>
                <a:cs typeface="Lato" charset="0"/>
              </a:rPr>
              <a:t> </a:t>
            </a:r>
            <a:r>
              <a:rPr lang="es-ES_tradnl" sz="800" dirty="0" err="1">
                <a:latin typeface="Lato" charset="0"/>
                <a:ea typeface="Lato" charset="0"/>
                <a:cs typeface="Lato" charset="0"/>
              </a:rPr>
              <a:t>issues</a:t>
            </a:r>
            <a:r>
              <a:rPr lang="es-ES_tradnl" sz="800" dirty="0">
                <a:latin typeface="Lato" charset="0"/>
                <a:ea typeface="Lato" charset="0"/>
                <a:cs typeface="Lato" charset="0"/>
              </a:rPr>
              <a:t>.</a:t>
            </a:r>
          </a:p>
          <a:p>
            <a:pPr marL="447675" lvl="1" indent="-82550" algn="just">
              <a:buFontTx/>
              <a:buChar char="-"/>
            </a:pPr>
            <a:r>
              <a:rPr lang="es-ES_tradnl" sz="800" dirty="0">
                <a:latin typeface="Lato"/>
                <a:ea typeface="Lato"/>
                <a:cs typeface="Lato"/>
              </a:rPr>
              <a:t>Plan and </a:t>
            </a:r>
            <a:r>
              <a:rPr lang="es-ES_tradnl" sz="800" dirty="0" err="1">
                <a:latin typeface="Lato"/>
                <a:ea typeface="Lato"/>
                <a:cs typeface="Lato"/>
              </a:rPr>
              <a:t>execute</a:t>
            </a:r>
            <a:r>
              <a:rPr lang="es-ES_tradnl" sz="800" dirty="0">
                <a:latin typeface="Lato"/>
                <a:ea typeface="Lato"/>
                <a:cs typeface="Lato"/>
              </a:rPr>
              <a:t> </a:t>
            </a:r>
            <a:r>
              <a:rPr lang="es-ES_tradnl" sz="800" dirty="0" err="1">
                <a:latin typeface="Lato"/>
                <a:ea typeface="Lato"/>
                <a:cs typeface="Lato"/>
              </a:rPr>
              <a:t>configuration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changes</a:t>
            </a:r>
            <a:r>
              <a:rPr lang="es-ES_tradnl" sz="800" dirty="0">
                <a:latin typeface="Lato"/>
                <a:ea typeface="Lato"/>
                <a:cs typeface="Lato"/>
              </a:rPr>
              <a:t> </a:t>
            </a:r>
            <a:r>
              <a:rPr lang="es-ES_tradnl" sz="800" dirty="0" err="1">
                <a:latin typeface="Lato"/>
                <a:ea typeface="Lato"/>
                <a:cs typeface="Lato"/>
              </a:rPr>
              <a:t>during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maintenance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windows</a:t>
            </a:r>
            <a:r>
              <a:rPr lang="es-ES_tradnl" sz="800" dirty="0">
                <a:latin typeface="Lato"/>
                <a:ea typeface="Lato"/>
                <a:cs typeface="Lato"/>
              </a:rPr>
              <a:t>.</a:t>
            </a:r>
          </a:p>
          <a:p>
            <a:pPr marL="447675" lvl="1" indent="-82550" algn="just">
              <a:buFontTx/>
              <a:buChar char="-"/>
            </a:pPr>
            <a:r>
              <a:rPr lang="es-ES_tradnl" sz="800" dirty="0" err="1">
                <a:latin typeface="Lato"/>
                <a:ea typeface="Lato"/>
                <a:cs typeface="Lato"/>
              </a:rPr>
              <a:t>Work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on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integration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between</a:t>
            </a:r>
            <a:r>
              <a:rPr lang="es-ES_tradnl" sz="800" dirty="0">
                <a:latin typeface="Lato"/>
                <a:ea typeface="Lato"/>
                <a:cs typeface="Lato"/>
              </a:rPr>
              <a:t> stock </a:t>
            </a:r>
            <a:r>
              <a:rPr lang="es-ES_tradnl" sz="800" dirty="0" err="1">
                <a:latin typeface="Lato"/>
                <a:ea typeface="Lato"/>
                <a:cs typeface="Lato"/>
              </a:rPr>
              <a:t>exchanges</a:t>
            </a:r>
            <a:r>
              <a:rPr lang="es-ES_tradnl" sz="800" dirty="0">
                <a:latin typeface="Lato"/>
                <a:ea typeface="Lato"/>
                <a:cs typeface="Lato"/>
              </a:rPr>
              <a:t>.</a:t>
            </a:r>
          </a:p>
          <a:p>
            <a:pPr marL="447675" lvl="1" indent="-82550" algn="just">
              <a:buFontTx/>
              <a:buChar char="-"/>
            </a:pPr>
            <a:r>
              <a:rPr lang="es-ES_tradnl" sz="800" dirty="0">
                <a:latin typeface="Lato"/>
                <a:ea typeface="Lato"/>
                <a:cs typeface="Lato"/>
              </a:rPr>
              <a:t>Test </a:t>
            </a:r>
            <a:r>
              <a:rPr lang="es-ES_tradnl" sz="800" dirty="0" err="1">
                <a:latin typeface="Lato"/>
                <a:ea typeface="Lato"/>
                <a:cs typeface="Lato"/>
              </a:rPr>
              <a:t>brand</a:t>
            </a:r>
            <a:r>
              <a:rPr lang="es-ES_tradnl" sz="800" dirty="0">
                <a:latin typeface="Lato"/>
                <a:ea typeface="Lato"/>
                <a:cs typeface="Lato"/>
              </a:rPr>
              <a:t> new </a:t>
            </a:r>
            <a:r>
              <a:rPr lang="es-ES_tradnl" sz="800" dirty="0" err="1">
                <a:latin typeface="Lato"/>
                <a:ea typeface="Lato"/>
                <a:cs typeface="Lato"/>
              </a:rPr>
              <a:t>equipment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before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it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is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added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to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the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network</a:t>
            </a:r>
            <a:r>
              <a:rPr lang="es-ES_tradnl" sz="800" dirty="0">
                <a:latin typeface="Lato"/>
                <a:ea typeface="Lato"/>
                <a:cs typeface="Lato"/>
              </a:rPr>
              <a:t>.</a:t>
            </a:r>
          </a:p>
          <a:p>
            <a:pPr marL="447675" lvl="1" indent="-82550" algn="just">
              <a:lnSpc>
                <a:spcPct val="150000"/>
              </a:lnSpc>
              <a:buChar char="-"/>
              <a:tabLst>
                <a:tab pos="3135313" algn="l"/>
              </a:tabLst>
            </a:pPr>
            <a:endParaRPr lang="es-ES_tradnl" sz="800" dirty="0">
              <a:latin typeface="Lato"/>
              <a:ea typeface="Lato"/>
              <a:cs typeface="Lato"/>
            </a:endParaRPr>
          </a:p>
          <a:p>
            <a:pPr indent="-92075" algn="just">
              <a:tabLst>
                <a:tab pos="3135313" algn="l"/>
              </a:tabLst>
            </a:pPr>
            <a:r>
              <a:rPr lang="es-ES_tradnl" sz="800" dirty="0">
                <a:latin typeface="Lato"/>
                <a:ea typeface="Lato"/>
                <a:cs typeface="Lato"/>
              </a:rPr>
              <a:t>          SICE (ACS </a:t>
            </a:r>
            <a:r>
              <a:rPr lang="es-ES_tradnl" sz="800" dirty="0" err="1">
                <a:latin typeface="Lato"/>
                <a:ea typeface="Lato"/>
                <a:cs typeface="Lato"/>
              </a:rPr>
              <a:t>Group</a:t>
            </a:r>
            <a:r>
              <a:rPr lang="es-ES_tradnl" sz="800" dirty="0">
                <a:latin typeface="Lato"/>
                <a:ea typeface="Lato"/>
                <a:cs typeface="Lato"/>
              </a:rPr>
              <a:t>) </a:t>
            </a:r>
            <a:r>
              <a:rPr lang="mr-IN" sz="800" dirty="0">
                <a:latin typeface="Lato"/>
                <a:ea typeface="Lato"/>
                <a:cs typeface="Lato" charset="0"/>
              </a:rPr>
              <a:t>–</a:t>
            </a:r>
            <a:r>
              <a:rPr lang="es-ES_tradnl" sz="800" dirty="0">
                <a:latin typeface="Lato"/>
                <a:ea typeface="Lato"/>
                <a:cs typeface="Lato"/>
              </a:rPr>
              <a:t> Madrid                                                                              2017-2018</a:t>
            </a:r>
            <a:endParaRPr lang="es-ES_tradnl" sz="800">
              <a:latin typeface="Lato" charset="0"/>
              <a:ea typeface="Lato" charset="0"/>
              <a:cs typeface="Lato" charset="0"/>
            </a:endParaRPr>
          </a:p>
          <a:p>
            <a:pPr marL="179070" lvl="1" indent="86995" algn="just"/>
            <a:r>
              <a:rPr lang="es-ES_tradnl" sz="900" b="1" dirty="0">
                <a:latin typeface="Lato"/>
                <a:ea typeface="Lato"/>
                <a:cs typeface="Lato"/>
              </a:rPr>
              <a:t>SYSTEM ENGINEER</a:t>
            </a:r>
            <a:endParaRPr lang="es-ES_tradnl" sz="900" b="1" dirty="0">
              <a:latin typeface="Lato" charset="0"/>
              <a:ea typeface="Lato" charset="0"/>
              <a:cs typeface="Lato" charset="0"/>
            </a:endParaRPr>
          </a:p>
          <a:p>
            <a:pPr marL="447675" lvl="1" indent="-82550" algn="just">
              <a:buFontTx/>
              <a:buChar char="-"/>
            </a:pPr>
            <a:r>
              <a:rPr lang="es-ES_tradnl" sz="800" dirty="0" err="1">
                <a:latin typeface="Lato"/>
                <a:ea typeface="Lato"/>
                <a:cs typeface="Lato"/>
              </a:rPr>
              <a:t>Designed</a:t>
            </a:r>
            <a:r>
              <a:rPr lang="es-ES_tradnl" sz="800" dirty="0">
                <a:latin typeface="Lato"/>
                <a:ea typeface="Lato"/>
                <a:cs typeface="Lato"/>
              </a:rPr>
              <a:t> and </a:t>
            </a:r>
            <a:r>
              <a:rPr lang="es-ES_tradnl" sz="800" dirty="0" err="1">
                <a:latin typeface="Lato"/>
                <a:ea typeface="Lato"/>
                <a:cs typeface="Lato"/>
              </a:rPr>
              <a:t>implemented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network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solutions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for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Intellingent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Traffic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Systems</a:t>
            </a:r>
            <a:r>
              <a:rPr lang="es-ES_tradnl" sz="800" dirty="0">
                <a:latin typeface="Lato"/>
                <a:ea typeface="Lato"/>
                <a:cs typeface="Lato"/>
              </a:rPr>
              <a:t>.</a:t>
            </a:r>
          </a:p>
          <a:p>
            <a:pPr marL="447675" lvl="1" indent="-82550" algn="just">
              <a:buFontTx/>
              <a:buChar char="-"/>
            </a:pPr>
            <a:r>
              <a:rPr lang="es-ES_tradnl" sz="800" dirty="0" err="1">
                <a:latin typeface="Lato"/>
                <a:ea typeface="Lato"/>
                <a:cs typeface="Lato"/>
              </a:rPr>
              <a:t>Guaranteed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seamless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integration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of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network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solutions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with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existing</a:t>
            </a:r>
            <a:r>
              <a:rPr lang="es-ES_tradnl" sz="800" dirty="0">
                <a:latin typeface="Lato"/>
                <a:ea typeface="Lato"/>
                <a:cs typeface="Lato"/>
              </a:rPr>
              <a:t> </a:t>
            </a:r>
            <a:r>
              <a:rPr lang="es-ES_tradnl" sz="800" dirty="0" err="1">
                <a:latin typeface="Lato"/>
                <a:ea typeface="Lato"/>
                <a:cs typeface="Lato"/>
              </a:rPr>
              <a:t>platforms</a:t>
            </a:r>
            <a:r>
              <a:rPr lang="es-ES_tradnl" sz="800" dirty="0">
                <a:latin typeface="Lato"/>
                <a:ea typeface="Lato"/>
                <a:cs typeface="Lato"/>
              </a:rPr>
              <a:t>.</a:t>
            </a:r>
            <a:endParaRPr lang="es-ES_tradnl" sz="800" dirty="0">
              <a:latin typeface="Lato" charset="0"/>
              <a:ea typeface="Lato" charset="0"/>
              <a:cs typeface="Lato" charset="0"/>
            </a:endParaRPr>
          </a:p>
          <a:p>
            <a:pPr marL="447675" lvl="1" indent="-82550" algn="just">
              <a:lnSpc>
                <a:spcPct val="150000"/>
              </a:lnSpc>
              <a:buChar char="-"/>
            </a:pPr>
            <a:endParaRPr lang="es-ES_tradnl" sz="800" dirty="0">
              <a:latin typeface="Lato"/>
              <a:ea typeface="Lato"/>
              <a:cs typeface="Lato"/>
            </a:endParaRPr>
          </a:p>
          <a:p>
            <a:pPr indent="-92075" algn="just"/>
            <a:r>
              <a:rPr lang="es-ES_tradnl" sz="800" dirty="0">
                <a:latin typeface="Lato"/>
                <a:ea typeface="Lato"/>
                <a:cs typeface="Lato"/>
              </a:rPr>
              <a:t>          </a:t>
            </a:r>
            <a:r>
              <a:rPr lang="es-ES_tradnl" sz="800" dirty="0" err="1">
                <a:latin typeface="Lato"/>
                <a:ea typeface="Lato"/>
                <a:cs typeface="Lato"/>
              </a:rPr>
              <a:t>Jump</a:t>
            </a:r>
            <a:r>
              <a:rPr lang="es-ES_tradnl" sz="800" dirty="0">
                <a:latin typeface="Lato"/>
                <a:ea typeface="Lato"/>
                <a:cs typeface="Lato"/>
              </a:rPr>
              <a:t> Trading (HFT) </a:t>
            </a:r>
            <a:r>
              <a:rPr lang="mr-IN" sz="800" dirty="0">
                <a:latin typeface="Lato"/>
                <a:ea typeface="Lato"/>
                <a:cs typeface="Lato" charset="0"/>
              </a:rPr>
              <a:t>–</a:t>
            </a:r>
            <a:r>
              <a:rPr lang="es-ES_tradnl" sz="800" dirty="0">
                <a:latin typeface="Lato"/>
                <a:ea typeface="Lato"/>
                <a:cs typeface="Lato"/>
              </a:rPr>
              <a:t> London            </a:t>
            </a:r>
            <a:r>
              <a:rPr lang="es-ES" sz="800" dirty="0">
                <a:latin typeface="Lato"/>
                <a:ea typeface="Lato"/>
                <a:cs typeface="Lato"/>
              </a:rPr>
              <a:t>                                                              </a:t>
            </a:r>
            <a:r>
              <a:rPr lang="es-ES_tradnl" sz="800" dirty="0">
                <a:latin typeface="Lato"/>
                <a:ea typeface="Lato"/>
                <a:cs typeface="Lato"/>
              </a:rPr>
              <a:t>2015-2017</a:t>
            </a:r>
            <a:endParaRPr lang="es-ES_tradnl" sz="800">
              <a:latin typeface="Lato" charset="0"/>
              <a:ea typeface="Lato" charset="0"/>
              <a:cs typeface="Lato" charset="0"/>
            </a:endParaRPr>
          </a:p>
          <a:p>
            <a:pPr marL="179070" lvl="1" indent="86995" algn="just"/>
            <a:r>
              <a:rPr lang="es-ES_tradnl" sz="900" b="1" dirty="0">
                <a:latin typeface="Lato"/>
                <a:ea typeface="Lato"/>
                <a:cs typeface="Lato"/>
              </a:rPr>
              <a:t>NETOPS ENGINEER</a:t>
            </a:r>
            <a:endParaRPr lang="es-ES_tradnl" dirty="0"/>
          </a:p>
          <a:p>
            <a:pPr marL="447675" lvl="1" indent="-82550" algn="just">
              <a:buFontTx/>
              <a:buChar char="-"/>
            </a:pPr>
            <a:r>
              <a:rPr lang="en-US" sz="800" dirty="0">
                <a:latin typeface="Lato"/>
                <a:ea typeface="Lato"/>
                <a:cs typeface="Lato"/>
              </a:rPr>
              <a:t>Guaranteed optimal operation and availability of an </a:t>
            </a:r>
            <a:r>
              <a:rPr lang="en-US" sz="800" dirty="0" err="1">
                <a:latin typeface="Lato"/>
                <a:ea typeface="Lato"/>
                <a:cs typeface="Lato"/>
              </a:rPr>
              <a:t>ultra low</a:t>
            </a:r>
            <a:r>
              <a:rPr lang="en-US" sz="800" dirty="0">
                <a:latin typeface="Lato"/>
                <a:ea typeface="Lato"/>
                <a:cs typeface="Lato"/>
              </a:rPr>
              <a:t>-latency network.</a:t>
            </a:r>
          </a:p>
          <a:p>
            <a:pPr marL="447675" lvl="1" indent="-82550" algn="just">
              <a:buFontTx/>
              <a:buChar char="-"/>
            </a:pPr>
            <a:r>
              <a:rPr lang="en-US" sz="800" dirty="0">
                <a:latin typeface="Lato"/>
                <a:ea typeface="Lato"/>
                <a:cs typeface="Lato"/>
              </a:rPr>
              <a:t>Troubleshot complex infrastructure issues and fine-tuned the network in reaction to constantly changing markets.</a:t>
            </a:r>
          </a:p>
          <a:p>
            <a:pPr marL="447675" lvl="1" indent="-82550" algn="just">
              <a:buFontTx/>
              <a:buChar char="-"/>
            </a:pPr>
            <a:r>
              <a:rPr lang="en-US" sz="800" dirty="0">
                <a:latin typeface="Lato"/>
                <a:ea typeface="Lato"/>
                <a:cs typeface="Lato"/>
              </a:rPr>
              <a:t>Developed solutions to improve the way the network handled extremely high volumes of transactions in fractions of a second. </a:t>
            </a:r>
            <a:endParaRPr lang="es-ES_tradnl" sz="800" dirty="0">
              <a:latin typeface="Lato" charset="0"/>
              <a:ea typeface="Lato" charset="0"/>
              <a:cs typeface="Lato" charset="0"/>
            </a:endParaRPr>
          </a:p>
          <a:p>
            <a:pPr algn="just">
              <a:lnSpc>
                <a:spcPct val="150000"/>
              </a:lnSpc>
              <a:tabLst>
                <a:tab pos="3135313" algn="l"/>
              </a:tabLst>
            </a:pPr>
            <a:endParaRPr lang="es-ES" sz="800" dirty="0">
              <a:latin typeface="Lato"/>
              <a:ea typeface="Lato"/>
              <a:cs typeface="Lato"/>
            </a:endParaRPr>
          </a:p>
          <a:p>
            <a:pPr algn="just">
              <a:tabLst>
                <a:tab pos="3135313" algn="l"/>
              </a:tabLst>
            </a:pPr>
            <a:r>
              <a:rPr lang="es-ES" sz="800" dirty="0">
                <a:latin typeface="Lato"/>
                <a:ea typeface="Lato"/>
                <a:cs typeface="Lato"/>
              </a:rPr>
              <a:t>          Cambridge </a:t>
            </a:r>
            <a:r>
              <a:rPr lang="es-ES" sz="800" dirty="0" err="1">
                <a:latin typeface="Lato"/>
                <a:ea typeface="Lato"/>
                <a:cs typeface="Lato"/>
              </a:rPr>
              <a:t>Broadband</a:t>
            </a:r>
            <a:r>
              <a:rPr lang="es-ES" sz="800" dirty="0">
                <a:latin typeface="Lato"/>
                <a:ea typeface="Lato"/>
                <a:cs typeface="Lato"/>
              </a:rPr>
              <a:t> Networks </a:t>
            </a:r>
            <a:r>
              <a:rPr lang="mr-IN" sz="800" dirty="0">
                <a:latin typeface="Lato"/>
                <a:ea typeface="Lato"/>
                <a:cs typeface="Lato"/>
              </a:rPr>
              <a:t>–</a:t>
            </a:r>
            <a:r>
              <a:rPr lang="es-ES" sz="800" dirty="0">
                <a:latin typeface="Lato"/>
                <a:ea typeface="Lato"/>
                <a:cs typeface="Lato"/>
              </a:rPr>
              <a:t> Cambridge                                              2013-2015</a:t>
            </a:r>
            <a:endParaRPr lang="es-ES" sz="800" dirty="0">
              <a:ea typeface="+mn-lt"/>
              <a:cs typeface="+mn-lt"/>
            </a:endParaRPr>
          </a:p>
          <a:p>
            <a:pPr marL="179070" lvl="1" indent="86995" algn="just">
              <a:tabLst>
                <a:tab pos="3135313" algn="l"/>
              </a:tabLst>
            </a:pPr>
            <a:r>
              <a:rPr lang="es-ES_tradnl" sz="900" b="1" dirty="0">
                <a:latin typeface="Lato"/>
                <a:ea typeface="Lato"/>
                <a:cs typeface="Lato"/>
              </a:rPr>
              <a:t>CUSTOMER SUPPORT ENGINEER</a:t>
            </a:r>
            <a:endParaRPr lang="es-ES_tradnl" sz="900" b="1" dirty="0">
              <a:latin typeface="Lato" charset="0"/>
              <a:ea typeface="Lato" charset="0"/>
              <a:cs typeface="Lato" charset="0"/>
            </a:endParaRPr>
          </a:p>
          <a:p>
            <a:pPr marL="447675" lvl="1" indent="-82550" algn="just">
              <a:buFontTx/>
              <a:buChar char="-"/>
              <a:tabLst>
                <a:tab pos="3135313" algn="l"/>
              </a:tabLst>
            </a:pPr>
            <a:r>
              <a:rPr lang="en-US" sz="800" dirty="0">
                <a:latin typeface="Lato"/>
                <a:ea typeface="Lato"/>
                <a:cs typeface="Lato"/>
              </a:rPr>
              <a:t>Provided high-level customer support to clients worldwide.</a:t>
            </a:r>
          </a:p>
          <a:p>
            <a:pPr marL="447675" lvl="1" indent="-82550" algn="just">
              <a:buFontTx/>
              <a:buChar char="-"/>
              <a:tabLst>
                <a:tab pos="3135313" algn="l"/>
              </a:tabLst>
            </a:pPr>
            <a:r>
              <a:rPr lang="en-US" sz="800" dirty="0">
                <a:latin typeface="Lato"/>
                <a:ea typeface="Lato"/>
                <a:cs typeface="Lato"/>
              </a:rPr>
              <a:t>Designed wireless network solutions for clients to interconnect remote areas.</a:t>
            </a:r>
          </a:p>
          <a:p>
            <a:pPr marL="447675" lvl="1" indent="-82550" algn="just">
              <a:buFontTx/>
              <a:buChar char="-"/>
              <a:tabLst>
                <a:tab pos="3135313" algn="l"/>
              </a:tabLst>
            </a:pPr>
            <a:r>
              <a:rPr lang="en-US" sz="800" dirty="0">
                <a:latin typeface="Lato"/>
                <a:ea typeface="Lato"/>
                <a:cs typeface="Lato"/>
              </a:rPr>
              <a:t>Created, maintained, and improved business relationships with customers.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4787" y="6703295"/>
            <a:ext cx="4020905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90170">
              <a:lnSpc>
                <a:spcPct val="150000"/>
              </a:lnSpc>
            </a:pPr>
            <a:r>
              <a:rPr lang="es-ES_tradnl" sz="1200" dirty="0">
                <a:latin typeface="Lato"/>
                <a:ea typeface="Lato"/>
                <a:cs typeface="Lato"/>
              </a:rPr>
              <a:t>         </a:t>
            </a:r>
            <a:r>
              <a:rPr lang="es-ES_tradnl" sz="1200" b="1" dirty="0">
                <a:latin typeface="Lato"/>
                <a:ea typeface="Lato"/>
                <a:cs typeface="Lato"/>
              </a:rPr>
              <a:t>EDUCATION</a:t>
            </a:r>
            <a:endParaRPr lang="es-ES_tradnl" sz="850" dirty="0" err="1">
              <a:latin typeface="Calibri"/>
              <a:ea typeface="Lato"/>
              <a:cs typeface="Calibri"/>
            </a:endParaRPr>
          </a:p>
          <a:p>
            <a:pPr indent="90170"/>
            <a:r>
              <a:rPr lang="es-ES" sz="850" dirty="0">
                <a:latin typeface="Lato"/>
                <a:ea typeface="Lato"/>
                <a:cs typeface="Lato"/>
              </a:rPr>
              <a:t>Madrid Stock Exchange – Madrid, </a:t>
            </a:r>
            <a:r>
              <a:rPr lang="es-ES" sz="850" dirty="0" err="1">
                <a:latin typeface="Lato"/>
                <a:ea typeface="Lato"/>
                <a:cs typeface="Lato"/>
              </a:rPr>
              <a:t>Spain</a:t>
            </a:r>
            <a:r>
              <a:rPr lang="es-ES" sz="850" dirty="0">
                <a:latin typeface="Lato"/>
                <a:ea typeface="Lato"/>
                <a:cs typeface="Lato"/>
              </a:rPr>
              <a:t>                                  2021 – Incomplete</a:t>
            </a:r>
            <a:endParaRPr lang="es-ES_tradnl" dirty="0" err="1">
              <a:latin typeface="Calibri"/>
              <a:ea typeface="Lato"/>
              <a:cs typeface="Calibri"/>
            </a:endParaRPr>
          </a:p>
          <a:p>
            <a:pPr indent="90170"/>
            <a:r>
              <a:rPr lang="es-ES_tradnl" sz="850" b="1" dirty="0">
                <a:latin typeface="Lato"/>
                <a:ea typeface="Lato"/>
                <a:cs typeface="Lato"/>
              </a:rPr>
              <a:t>MSC IN AI FOR FINANCIAL MARKETS</a:t>
            </a:r>
            <a:endParaRPr lang="es-ES_tradnl" dirty="0">
              <a:latin typeface="Calibri"/>
              <a:ea typeface="Lato"/>
              <a:cs typeface="Calibri"/>
            </a:endParaRPr>
          </a:p>
          <a:p>
            <a:pPr marL="90170" lvl="1" defTabSz="808038">
              <a:lnSpc>
                <a:spcPct val="150000"/>
              </a:lnSpc>
            </a:pPr>
            <a:r>
              <a:rPr lang="es-ES" sz="850" dirty="0">
                <a:latin typeface="Lato"/>
                <a:ea typeface="Lato"/>
                <a:cs typeface="Lato"/>
              </a:rPr>
              <a:t>      - Trading </a:t>
            </a:r>
            <a:r>
              <a:rPr lang="es-ES" sz="850" dirty="0" err="1">
                <a:latin typeface="Lato"/>
                <a:ea typeface="Lato"/>
                <a:cs typeface="Lato"/>
              </a:rPr>
              <a:t>Strategies</a:t>
            </a:r>
            <a:r>
              <a:rPr lang="es-ES" sz="850" dirty="0">
                <a:latin typeface="Lato"/>
                <a:ea typeface="Lato"/>
                <a:cs typeface="Lato"/>
              </a:rPr>
              <a:t> &amp; </a:t>
            </a:r>
            <a:r>
              <a:rPr lang="es-ES" sz="850" dirty="0" err="1">
                <a:latin typeface="Lato"/>
                <a:ea typeface="Lato"/>
                <a:cs typeface="Lato"/>
              </a:rPr>
              <a:t>Algorithms</a:t>
            </a:r>
            <a:r>
              <a:rPr lang="es-ES" sz="850" dirty="0">
                <a:latin typeface="Lato"/>
                <a:ea typeface="Lato"/>
                <a:cs typeface="Lato"/>
              </a:rPr>
              <a:t>.</a:t>
            </a:r>
            <a:endParaRPr lang="es-ES_tradnl">
              <a:cs typeface="Calibri"/>
            </a:endParaRPr>
          </a:p>
          <a:p>
            <a:pPr defTabSz="808038"/>
            <a:r>
              <a:rPr lang="es-ES" sz="850" dirty="0">
                <a:latin typeface="Lato"/>
                <a:ea typeface="Lato"/>
                <a:cs typeface="Lato"/>
              </a:rPr>
              <a:t>         - Cloud Computing </a:t>
            </a:r>
            <a:r>
              <a:rPr lang="es-ES" sz="850" dirty="0" err="1">
                <a:latin typeface="Lato"/>
                <a:ea typeface="Lato"/>
                <a:cs typeface="Lato"/>
              </a:rPr>
              <a:t>for</a:t>
            </a:r>
            <a:r>
              <a:rPr lang="es-ES" sz="850" dirty="0">
                <a:latin typeface="Lato"/>
                <a:ea typeface="Lato"/>
                <a:cs typeface="Lato"/>
              </a:rPr>
              <a:t> Big Data.</a:t>
            </a:r>
          </a:p>
          <a:p>
            <a:pPr defTabSz="808038"/>
            <a:r>
              <a:rPr lang="es-ES" sz="850" dirty="0">
                <a:latin typeface="Lato"/>
                <a:ea typeface="Lato"/>
                <a:cs typeface="Lato"/>
              </a:rPr>
              <a:t>         - Deep </a:t>
            </a:r>
            <a:r>
              <a:rPr lang="es-ES" sz="850" dirty="0" err="1">
                <a:latin typeface="Lato"/>
                <a:ea typeface="Lato"/>
                <a:cs typeface="Lato"/>
              </a:rPr>
              <a:t>Learning</a:t>
            </a:r>
            <a:r>
              <a:rPr lang="es-ES" sz="850" dirty="0">
                <a:latin typeface="Lato"/>
                <a:ea typeface="Lato"/>
                <a:cs typeface="Lato"/>
              </a:rPr>
              <a:t> &amp; Neural Networks.</a:t>
            </a:r>
          </a:p>
          <a:p>
            <a:pPr defTabSz="808038"/>
            <a:r>
              <a:rPr lang="es-ES" sz="850" dirty="0">
                <a:latin typeface="Lato"/>
                <a:ea typeface="Lato"/>
                <a:cs typeface="Lato"/>
              </a:rPr>
              <a:t>         - </a:t>
            </a:r>
            <a:r>
              <a:rPr lang="es-ES" sz="850" dirty="0" err="1">
                <a:latin typeface="Lato"/>
                <a:ea typeface="Lato"/>
                <a:cs typeface="Lato"/>
              </a:rPr>
              <a:t>Blockchain</a:t>
            </a:r>
            <a:r>
              <a:rPr lang="es-ES" sz="850" dirty="0">
                <a:latin typeface="Lato"/>
                <a:ea typeface="Lato"/>
                <a:cs typeface="Lato"/>
              </a:rPr>
              <a:t>.</a:t>
            </a:r>
            <a:endParaRPr lang="es-ES_tradnl" sz="850" dirty="0">
              <a:latin typeface="Calibri"/>
              <a:ea typeface="Lato"/>
              <a:cs typeface="Calibri"/>
            </a:endParaRPr>
          </a:p>
          <a:p>
            <a:pPr defTabSz="808038"/>
            <a:endParaRPr lang="es-ES" sz="850" dirty="0">
              <a:latin typeface="Lato"/>
              <a:ea typeface="Lato"/>
              <a:cs typeface="Lato"/>
            </a:endParaRPr>
          </a:p>
          <a:p>
            <a:pPr defTabSz="808038"/>
            <a:r>
              <a:rPr lang="es-ES" sz="850" dirty="0">
                <a:latin typeface="Lato"/>
                <a:ea typeface="Lato"/>
                <a:cs typeface="Lato"/>
              </a:rPr>
              <a:t>   360 GSP </a:t>
            </a:r>
            <a:r>
              <a:rPr lang="es-ES" sz="850" dirty="0" err="1">
                <a:latin typeface="Lato"/>
                <a:ea typeface="Lato"/>
                <a:cs typeface="Lato"/>
              </a:rPr>
              <a:t>College</a:t>
            </a:r>
            <a:r>
              <a:rPr lang="es-ES" sz="850" dirty="0">
                <a:latin typeface="Lato"/>
                <a:ea typeface="Lato"/>
                <a:cs typeface="Lato"/>
              </a:rPr>
              <a:t> – London, UK                                                              2013-2014</a:t>
            </a:r>
            <a:endParaRPr lang="es-ES_tradnl" dirty="0">
              <a:latin typeface="Calibri"/>
              <a:ea typeface="Lato"/>
              <a:cs typeface="Calibri"/>
            </a:endParaRPr>
          </a:p>
          <a:p>
            <a:pPr defTabSz="808038"/>
            <a:r>
              <a:rPr lang="es-ES_tradnl" sz="850" b="1" dirty="0">
                <a:latin typeface="Lato"/>
                <a:ea typeface="Lato"/>
                <a:cs typeface="Lato"/>
              </a:rPr>
              <a:t>   SERVER ADMIN &amp; CUSTOMER SUPPORT</a:t>
            </a:r>
            <a:endParaRPr lang="es-ES_tradnl" dirty="0">
              <a:latin typeface="Calibri"/>
              <a:ea typeface="Lato"/>
              <a:cs typeface="Calibri"/>
            </a:endParaRPr>
          </a:p>
          <a:p>
            <a:pPr marL="90170" lvl="1" defTabSz="808038">
              <a:lnSpc>
                <a:spcPct val="150000"/>
              </a:lnSpc>
            </a:pPr>
            <a:r>
              <a:rPr lang="es-ES_tradnl" sz="850" dirty="0">
                <a:latin typeface="Lato"/>
                <a:ea typeface="Lato"/>
                <a:cs typeface="Lato"/>
              </a:rPr>
              <a:t>     - Cisco CCNA, Microsoft MCSA, and </a:t>
            </a:r>
            <a:r>
              <a:rPr lang="es-ES_tradnl" sz="850" dirty="0" err="1">
                <a:latin typeface="Lato"/>
                <a:ea typeface="Lato"/>
                <a:cs typeface="Lato"/>
              </a:rPr>
              <a:t>VMWare</a:t>
            </a:r>
            <a:r>
              <a:rPr lang="es-ES_tradnl" sz="850" dirty="0">
                <a:latin typeface="Lato"/>
                <a:ea typeface="Lato"/>
                <a:cs typeface="Lato"/>
              </a:rPr>
              <a:t> training.</a:t>
            </a:r>
            <a:endParaRPr lang="es-ES_tradnl">
              <a:latin typeface="Calibri"/>
              <a:ea typeface="Lato"/>
              <a:cs typeface="Calibri"/>
            </a:endParaRPr>
          </a:p>
          <a:p>
            <a:pPr marL="90170" lvl="1" defTabSz="808038"/>
            <a:endParaRPr lang="es-ES" sz="850" b="1" dirty="0">
              <a:latin typeface="Lato"/>
              <a:ea typeface="Lato"/>
              <a:cs typeface="Lato"/>
            </a:endParaRPr>
          </a:p>
          <a:p>
            <a:pPr marL="90170" lvl="1" defTabSz="808038"/>
            <a:r>
              <a:rPr lang="es-ES" sz="850" dirty="0">
                <a:latin typeface="Lato"/>
                <a:ea typeface="Lato"/>
                <a:cs typeface="Lato"/>
              </a:rPr>
              <a:t>Universidad </a:t>
            </a:r>
            <a:r>
              <a:rPr lang="es-ES" sz="850" dirty="0" err="1">
                <a:latin typeface="Lato"/>
                <a:ea typeface="Lato"/>
                <a:cs typeface="Lato"/>
              </a:rPr>
              <a:t>Catolica</a:t>
            </a:r>
            <a:r>
              <a:rPr lang="es-ES" sz="850" dirty="0">
                <a:latin typeface="Lato"/>
                <a:ea typeface="Lato"/>
                <a:cs typeface="Lato"/>
              </a:rPr>
              <a:t> </a:t>
            </a:r>
            <a:r>
              <a:rPr lang="es-ES" sz="850" dirty="0" err="1">
                <a:latin typeface="Lato"/>
                <a:ea typeface="Lato"/>
                <a:cs typeface="Lato"/>
              </a:rPr>
              <a:t>Andres</a:t>
            </a:r>
            <a:r>
              <a:rPr lang="es-ES" sz="850" dirty="0">
                <a:latin typeface="Lato"/>
                <a:ea typeface="Lato"/>
                <a:cs typeface="Lato"/>
              </a:rPr>
              <a:t> Bello – Caracas, Venezuela                    2005-2011</a:t>
            </a:r>
            <a:endParaRPr lang="es-ES_tradnl" sz="850" dirty="0">
              <a:latin typeface="Lato" charset="0"/>
              <a:ea typeface="Lato" charset="0"/>
              <a:cs typeface="Lato" charset="0"/>
            </a:endParaRPr>
          </a:p>
          <a:p>
            <a:pPr marL="90170" lvl="1" defTabSz="808038"/>
            <a:r>
              <a:rPr lang="es-ES_tradnl" sz="850" b="1" dirty="0">
                <a:latin typeface="Lato"/>
                <a:ea typeface="Lato"/>
                <a:cs typeface="Lato"/>
              </a:rPr>
              <a:t>MSC IN TELECOMMUNICATION ENGINEERING</a:t>
            </a:r>
            <a:endParaRPr lang="es-ES_tradnl" sz="850" dirty="0">
              <a:latin typeface="Lato" charset="0"/>
              <a:ea typeface="Lato" charset="0"/>
              <a:cs typeface="Lato" charset="0"/>
            </a:endParaRPr>
          </a:p>
          <a:p>
            <a:pPr marL="90170" lvl="1" defTabSz="808038"/>
            <a:r>
              <a:rPr lang="es-ES_tradnl" sz="850" dirty="0">
                <a:latin typeface="Lato"/>
                <a:ea typeface="Lato"/>
                <a:cs typeface="Lato"/>
              </a:rPr>
              <a:t>     - </a:t>
            </a:r>
            <a:r>
              <a:rPr lang="es-ES_tradnl" sz="850" dirty="0" err="1">
                <a:latin typeface="Lato"/>
                <a:ea typeface="Lato"/>
                <a:cs typeface="Lato"/>
              </a:rPr>
              <a:t>Graduated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with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honours</a:t>
            </a:r>
            <a:r>
              <a:rPr lang="es-ES_tradnl" sz="850" dirty="0">
                <a:latin typeface="Lato"/>
                <a:ea typeface="Lato"/>
                <a:cs typeface="Lato"/>
              </a:rPr>
              <a:t>.</a:t>
            </a:r>
            <a:endParaRPr lang="es-ES_tradnl" sz="850">
              <a:latin typeface="Lato" charset="0"/>
              <a:ea typeface="Lato" charset="0"/>
              <a:cs typeface="Lato" charset="0"/>
            </a:endParaRPr>
          </a:p>
          <a:p>
            <a:pPr marL="90170" lvl="1" defTabSz="808038"/>
            <a:r>
              <a:rPr lang="es-ES_tradnl" sz="850" dirty="0">
                <a:latin typeface="Lato"/>
                <a:ea typeface="Lato"/>
                <a:cs typeface="Lato"/>
              </a:rPr>
              <a:t>     - Top 5% </a:t>
            </a:r>
            <a:r>
              <a:rPr lang="es-ES_tradnl" sz="850" dirty="0" err="1">
                <a:latin typeface="Lato"/>
                <a:ea typeface="Lato"/>
                <a:cs typeface="Lato"/>
              </a:rPr>
              <a:t>of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the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class</a:t>
            </a:r>
            <a:r>
              <a:rPr lang="es-ES_tradnl" sz="850" dirty="0">
                <a:latin typeface="Lato"/>
                <a:ea typeface="Lato"/>
                <a:cs typeface="Lato"/>
              </a:rPr>
              <a:t>.</a:t>
            </a:r>
            <a:endParaRPr lang="es-ES_tradnl" sz="850" dirty="0">
              <a:latin typeface="Lato" charset="0"/>
              <a:ea typeface="Lato" charset="0"/>
              <a:cs typeface="Lato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8935" y="7782100"/>
            <a:ext cx="2037844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56870" lvl="1"/>
            <a:r>
              <a:rPr lang="es-ES_tradnl" sz="800" dirty="0">
                <a:latin typeface="Lato"/>
                <a:ea typeface="Lato"/>
                <a:cs typeface="Lato"/>
              </a:rPr>
              <a:t>Skype</a:t>
            </a:r>
          </a:p>
          <a:p>
            <a:pPr marL="356870" lvl="1"/>
            <a:r>
              <a:rPr lang="es-ES_tradnl" sz="800" dirty="0" err="1">
                <a:latin typeface="Lato"/>
                <a:ea typeface="Lato"/>
                <a:cs typeface="Lato"/>
              </a:rPr>
              <a:t>nahem.seguias.ferrero</a:t>
            </a:r>
            <a:endParaRPr lang="es-ES_tradnl" sz="800" dirty="0">
              <a:latin typeface="Lato"/>
              <a:ea typeface="Lato"/>
              <a:cs typeface="Lato"/>
            </a:endParaRPr>
          </a:p>
          <a:p>
            <a:pPr marL="356870" lvl="1"/>
            <a:endParaRPr lang="es-ES_tradnl" sz="800" dirty="0">
              <a:latin typeface="Lato" charset="0"/>
              <a:ea typeface="Lato" charset="0"/>
              <a:cs typeface="Lato" charset="0"/>
            </a:endParaRPr>
          </a:p>
          <a:p>
            <a:pPr marL="356870" lvl="1"/>
            <a:r>
              <a:rPr lang="es-ES_tradnl" sz="800" dirty="0">
                <a:latin typeface="Lato"/>
                <a:ea typeface="Lato"/>
                <a:cs typeface="Lato"/>
              </a:rPr>
              <a:t>Mobile</a:t>
            </a:r>
          </a:p>
          <a:p>
            <a:pPr marL="356870" lvl="1"/>
            <a:r>
              <a:rPr lang="es-ES_tradnl" sz="800" dirty="0">
                <a:latin typeface="Lato"/>
                <a:ea typeface="Lato"/>
                <a:cs typeface="Lato"/>
              </a:rPr>
              <a:t>+34 665 780 125</a:t>
            </a:r>
          </a:p>
          <a:p>
            <a:pPr marL="356870" lvl="1"/>
            <a:endParaRPr lang="es-ES_tradnl" sz="800" dirty="0">
              <a:latin typeface="Lato" charset="0"/>
              <a:ea typeface="Lato" charset="0"/>
              <a:cs typeface="Lato" charset="0"/>
            </a:endParaRPr>
          </a:p>
          <a:p>
            <a:pPr marL="356870" lvl="1"/>
            <a:r>
              <a:rPr lang="es-ES_tradnl" sz="800" dirty="0">
                <a:latin typeface="Lato"/>
                <a:ea typeface="Lato"/>
                <a:cs typeface="Lato"/>
              </a:rPr>
              <a:t>Email</a:t>
            </a:r>
          </a:p>
          <a:p>
            <a:pPr marL="356870" lvl="1"/>
            <a:r>
              <a:rPr lang="es-ES_tradnl" sz="800" dirty="0">
                <a:latin typeface="Lato"/>
                <a:ea typeface="Lato"/>
                <a:cs typeface="Lato"/>
                <a:hlinkClick r:id="rId2"/>
              </a:rPr>
              <a:t>nahemseguias@gmail.com</a:t>
            </a:r>
            <a:endParaRPr lang="es-ES_tradnl" sz="800" dirty="0">
              <a:latin typeface="Lato"/>
              <a:ea typeface="Lato"/>
              <a:cs typeface="Lato"/>
            </a:endParaRPr>
          </a:p>
          <a:p>
            <a:pPr marL="356870" lvl="1"/>
            <a:endParaRPr lang="es-ES_tradnl" sz="800" dirty="0">
              <a:latin typeface="Lato" charset="0"/>
              <a:ea typeface="Lato" charset="0"/>
              <a:cs typeface="Lato" charset="0"/>
            </a:endParaRPr>
          </a:p>
          <a:p>
            <a:pPr marL="356870" lvl="1"/>
            <a:r>
              <a:rPr lang="es-ES_tradnl" sz="800" dirty="0" err="1">
                <a:latin typeface="Lato"/>
                <a:ea typeface="Lato"/>
                <a:cs typeface="Lato"/>
              </a:rPr>
              <a:t>Linkedin</a:t>
            </a:r>
            <a:endParaRPr lang="es-ES_tradnl" sz="800" dirty="0">
              <a:latin typeface="Lato"/>
              <a:ea typeface="Lato"/>
              <a:cs typeface="Lato"/>
            </a:endParaRPr>
          </a:p>
          <a:p>
            <a:pPr marL="356870" lvl="1"/>
            <a:r>
              <a:rPr lang="es-ES_tradnl" sz="800" dirty="0">
                <a:latin typeface="Lato"/>
                <a:ea typeface="Lato"/>
                <a:cs typeface="Lato"/>
                <a:hlinkClick r:id="rId3"/>
              </a:rPr>
              <a:t>www.linkedin.com/in/nseguias</a:t>
            </a:r>
            <a:endParaRPr lang="es-ES_tradnl" sz="800" dirty="0">
              <a:latin typeface="Lato"/>
              <a:ea typeface="Lato"/>
              <a:cs typeface="La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325" y="2037108"/>
            <a:ext cx="2249861" cy="19466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179070" algn="just">
              <a:spcAft>
                <a:spcPts val="600"/>
              </a:spcAft>
              <a:tabLst>
                <a:tab pos="87313" algn="l"/>
              </a:tabLst>
            </a:pPr>
            <a:r>
              <a:rPr lang="es-ES_tradnl" sz="1200" b="1" dirty="0">
                <a:latin typeface="Lato"/>
                <a:ea typeface="Lato"/>
                <a:cs typeface="Lato"/>
              </a:rPr>
              <a:t>     SUMMARY</a:t>
            </a:r>
            <a:endParaRPr lang="es-ES" dirty="0"/>
          </a:p>
          <a:p>
            <a:pPr marL="6350" algn="just">
              <a:spcAft>
                <a:spcPts val="600"/>
              </a:spcAft>
              <a:tabLst>
                <a:tab pos="87313" algn="l"/>
              </a:tabLst>
            </a:pPr>
            <a:r>
              <a:rPr lang="es-ES_tradnl" sz="850" dirty="0">
                <a:latin typeface="Lato"/>
                <a:ea typeface="Lato"/>
                <a:cs typeface="Lato"/>
              </a:rPr>
              <a:t>After </a:t>
            </a:r>
            <a:r>
              <a:rPr lang="es-ES_tradnl" sz="850" dirty="0" err="1">
                <a:latin typeface="Lato"/>
                <a:ea typeface="Lato"/>
                <a:cs typeface="Lato"/>
              </a:rPr>
              <a:t>working</a:t>
            </a:r>
            <a:r>
              <a:rPr lang="es-ES_tradnl" sz="850" dirty="0">
                <a:latin typeface="Lato"/>
                <a:ea typeface="Lato"/>
                <a:cs typeface="Lato"/>
              </a:rPr>
              <a:t> as a </a:t>
            </a:r>
            <a:r>
              <a:rPr lang="es-ES_tradnl" sz="850" dirty="0" err="1">
                <a:latin typeface="Lato"/>
                <a:ea typeface="Lato"/>
                <a:cs typeface="Lato"/>
              </a:rPr>
              <a:t>System</a:t>
            </a:r>
            <a:r>
              <a:rPr lang="es-ES_tradnl" sz="850" dirty="0">
                <a:latin typeface="Lato"/>
                <a:ea typeface="Lato"/>
                <a:cs typeface="Lato"/>
              </a:rPr>
              <a:t> </a:t>
            </a:r>
            <a:r>
              <a:rPr lang="es-ES_tradnl" sz="850" dirty="0" err="1">
                <a:latin typeface="Lato"/>
                <a:ea typeface="Lato"/>
                <a:cs typeface="Lato"/>
              </a:rPr>
              <a:t>Engineer</a:t>
            </a:r>
            <a:r>
              <a:rPr lang="es-ES_tradnl" sz="850" dirty="0">
                <a:latin typeface="Lato"/>
                <a:ea typeface="Lato"/>
                <a:cs typeface="Lato"/>
              </a:rPr>
              <a:t> </a:t>
            </a:r>
            <a:r>
              <a:rPr lang="es-ES_tradnl" sz="850" dirty="0" err="1">
                <a:latin typeface="Lato"/>
                <a:ea typeface="Lato"/>
                <a:cs typeface="Lato"/>
              </a:rPr>
              <a:t>for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over</a:t>
            </a:r>
            <a:r>
              <a:rPr lang="es-ES_tradnl" sz="850" dirty="0">
                <a:latin typeface="Lato"/>
                <a:ea typeface="Lato"/>
                <a:cs typeface="Lato"/>
              </a:rPr>
              <a:t> 10 </a:t>
            </a:r>
            <a:r>
              <a:rPr lang="es-ES_tradnl" sz="850" dirty="0" err="1">
                <a:latin typeface="Lato"/>
                <a:ea typeface="Lato"/>
                <a:cs typeface="Lato"/>
              </a:rPr>
              <a:t>years</a:t>
            </a:r>
            <a:r>
              <a:rPr lang="es-ES_tradnl" sz="850" dirty="0">
                <a:latin typeface="Lato"/>
                <a:ea typeface="Lato"/>
                <a:cs typeface="Lato"/>
              </a:rPr>
              <a:t>, I </a:t>
            </a:r>
            <a:r>
              <a:rPr lang="es-ES_tradnl" sz="850" dirty="0" err="1">
                <a:latin typeface="Lato"/>
                <a:ea typeface="Lato"/>
                <a:cs typeface="Lato"/>
              </a:rPr>
              <a:t>wanted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to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expand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my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skill</a:t>
            </a:r>
            <a:r>
              <a:rPr lang="es-ES_tradnl" sz="850" dirty="0">
                <a:latin typeface="Lato"/>
                <a:ea typeface="Lato"/>
                <a:cs typeface="Lato"/>
              </a:rPr>
              <a:t> set </a:t>
            </a:r>
            <a:r>
              <a:rPr lang="es-ES_tradnl" sz="850" dirty="0" err="1">
                <a:latin typeface="Lato"/>
                <a:ea typeface="Lato"/>
                <a:cs typeface="Lato"/>
              </a:rPr>
              <a:t>to</a:t>
            </a:r>
            <a:r>
              <a:rPr lang="es-ES_tradnl" sz="850" dirty="0">
                <a:latin typeface="Lato"/>
                <a:ea typeface="Lato"/>
                <a:cs typeface="Lato"/>
              </a:rPr>
              <a:t> be </a:t>
            </a:r>
            <a:r>
              <a:rPr lang="es-ES_tradnl" sz="850" dirty="0" err="1">
                <a:latin typeface="Lato"/>
                <a:ea typeface="Lato"/>
                <a:cs typeface="Lato"/>
              </a:rPr>
              <a:t>able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to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dirty="0" err="1">
                <a:latin typeface="Lato"/>
                <a:ea typeface="Lato"/>
                <a:cs typeface="Lato"/>
              </a:rPr>
              <a:t>work</a:t>
            </a:r>
            <a:r>
              <a:rPr lang="es-ES_tradnl" sz="850" dirty="0">
                <a:latin typeface="Lato"/>
                <a:ea typeface="Lato"/>
                <a:cs typeface="Lato"/>
              </a:rPr>
              <a:t> in more creative roles / </a:t>
            </a:r>
            <a:r>
              <a:rPr lang="es-ES_tradnl" sz="850" dirty="0" err="1">
                <a:latin typeface="Lato"/>
                <a:ea typeface="Lato"/>
                <a:cs typeface="Lato"/>
              </a:rPr>
              <a:t>projects</a:t>
            </a:r>
            <a:r>
              <a:rPr lang="es-ES_tradnl" sz="850" dirty="0">
                <a:latin typeface="Lato"/>
                <a:ea typeface="Lato"/>
                <a:cs typeface="Lato"/>
              </a:rPr>
              <a:t>. </a:t>
            </a:r>
            <a:endParaRPr lang="es-ES_tradnl" sz="850" dirty="0">
              <a:latin typeface="Lato" charset="0"/>
              <a:ea typeface="Lato" charset="0"/>
              <a:cs typeface="Lato" charset="0"/>
            </a:endParaRPr>
          </a:p>
          <a:p>
            <a:pPr marL="6350" algn="just">
              <a:spcAft>
                <a:spcPts val="600"/>
              </a:spcAft>
              <a:tabLst>
                <a:tab pos="87313" algn="l"/>
              </a:tabLst>
            </a:pPr>
            <a:r>
              <a:rPr lang="es-ES_tradnl" sz="850" dirty="0">
                <a:latin typeface="Lato"/>
                <a:ea typeface="Lato"/>
                <a:cs typeface="Lato"/>
              </a:rPr>
              <a:t>In 2021 I </a:t>
            </a:r>
            <a:r>
              <a:rPr lang="es-ES_tradnl" sz="850" err="1">
                <a:latin typeface="Lato"/>
                <a:ea typeface="Lato"/>
                <a:cs typeface="Lato"/>
              </a:rPr>
              <a:t>took</a:t>
            </a:r>
            <a:r>
              <a:rPr lang="es-ES_tradnl" sz="850" dirty="0">
                <a:latin typeface="Lato"/>
                <a:ea typeface="Lato"/>
                <a:cs typeface="Lato"/>
              </a:rPr>
              <a:t> a </a:t>
            </a:r>
            <a:r>
              <a:rPr lang="es-ES_tradnl" sz="850" err="1">
                <a:latin typeface="Lato"/>
                <a:ea typeface="Lato"/>
                <a:cs typeface="Lato"/>
              </a:rPr>
              <a:t>sabbatical</a:t>
            </a:r>
            <a:r>
              <a:rPr lang="es-ES_tradnl" sz="850" dirty="0">
                <a:latin typeface="Lato"/>
                <a:ea typeface="Lato"/>
                <a:cs typeface="Lato"/>
              </a:rPr>
              <a:t> </a:t>
            </a:r>
            <a:r>
              <a:rPr lang="es-ES_tradnl" sz="850" err="1">
                <a:latin typeface="Lato"/>
                <a:ea typeface="Lato"/>
                <a:cs typeface="Lato"/>
              </a:rPr>
              <a:t>year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err="1">
                <a:latin typeface="Lato"/>
                <a:ea typeface="Lato"/>
                <a:cs typeface="Lato"/>
              </a:rPr>
              <a:t>to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err="1">
                <a:latin typeface="Lato"/>
                <a:ea typeface="Lato"/>
                <a:cs typeface="Lato"/>
              </a:rPr>
              <a:t>travel</a:t>
            </a:r>
            <a:r>
              <a:rPr lang="es-ES_tradnl" sz="850" dirty="0">
                <a:latin typeface="Lato"/>
                <a:ea typeface="Lato"/>
                <a:cs typeface="Lato"/>
              </a:rPr>
              <a:t> </a:t>
            </a:r>
            <a:r>
              <a:rPr lang="es-ES_tradnl" sz="850" err="1">
                <a:latin typeface="Lato"/>
                <a:ea typeface="+mn-lt"/>
                <a:cs typeface="+mn-lt"/>
              </a:rPr>
              <a:t>around</a:t>
            </a:r>
            <a:r>
              <a:rPr lang="es-ES_tradnl" sz="850" dirty="0">
                <a:latin typeface="Lato"/>
                <a:ea typeface="+mn-lt"/>
                <a:cs typeface="+mn-lt"/>
              </a:rPr>
              <a:t> </a:t>
            </a:r>
            <a:r>
              <a:rPr lang="es-ES_tradnl" sz="850" err="1">
                <a:latin typeface="Lato"/>
                <a:ea typeface="+mn-lt"/>
                <a:cs typeface="+mn-lt"/>
              </a:rPr>
              <a:t>the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err="1">
                <a:latin typeface="Lato"/>
                <a:ea typeface="+mn-lt"/>
                <a:cs typeface="+mn-lt"/>
              </a:rPr>
              <a:t>world</a:t>
            </a:r>
            <a:r>
              <a:rPr lang="es-ES_tradnl" sz="850" dirty="0">
                <a:latin typeface="Lato"/>
                <a:ea typeface="+mn-lt"/>
                <a:cs typeface="+mn-lt"/>
              </a:rPr>
              <a:t>, </a:t>
            </a:r>
            <a:r>
              <a:rPr lang="es-ES_tradnl" sz="850" err="1">
                <a:latin typeface="Lato"/>
                <a:ea typeface="+mn-lt"/>
                <a:cs typeface="+mn-lt"/>
              </a:rPr>
              <a:t>get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err="1">
                <a:latin typeface="Lato"/>
                <a:ea typeface="+mn-lt"/>
                <a:cs typeface="+mn-lt"/>
              </a:rPr>
              <a:t>better</a:t>
            </a:r>
            <a:r>
              <a:rPr lang="es-ES_tradnl" sz="850" dirty="0">
                <a:latin typeface="Lato"/>
                <a:ea typeface="+mn-lt"/>
                <a:cs typeface="+mn-lt"/>
              </a:rPr>
              <a:t> at </a:t>
            </a:r>
            <a:r>
              <a:rPr lang="es-ES_tradnl" sz="850" err="1">
                <a:latin typeface="Lato"/>
                <a:ea typeface="+mn-lt"/>
                <a:cs typeface="+mn-lt"/>
              </a:rPr>
              <a:t>different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err="1">
                <a:latin typeface="Lato"/>
                <a:ea typeface="+mn-lt"/>
                <a:cs typeface="+mn-lt"/>
              </a:rPr>
              <a:t>programming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err="1">
                <a:latin typeface="Lato"/>
                <a:ea typeface="+mn-lt"/>
                <a:cs typeface="+mn-lt"/>
              </a:rPr>
              <a:t>languages</a:t>
            </a:r>
            <a:r>
              <a:rPr lang="es-ES_tradnl" sz="850" dirty="0">
                <a:latin typeface="Lato"/>
                <a:ea typeface="+mn-lt"/>
                <a:cs typeface="+mn-lt"/>
              </a:rPr>
              <a:t>, master </a:t>
            </a:r>
            <a:r>
              <a:rPr lang="es-ES_tradnl" sz="850" err="1">
                <a:latin typeface="Lato"/>
                <a:ea typeface="+mn-lt"/>
                <a:cs typeface="+mn-lt"/>
              </a:rPr>
              <a:t>blockchain</a:t>
            </a:r>
            <a:r>
              <a:rPr lang="es-ES_tradnl" sz="850" dirty="0">
                <a:latin typeface="Lato"/>
                <a:ea typeface="+mn-lt"/>
                <a:cs typeface="+mn-lt"/>
              </a:rPr>
              <a:t>, and </a:t>
            </a:r>
            <a:r>
              <a:rPr lang="es-ES_tradnl" sz="850" err="1">
                <a:latin typeface="Lato"/>
                <a:ea typeface="+mn-lt"/>
                <a:cs typeface="+mn-lt"/>
              </a:rPr>
              <a:t>learn</a:t>
            </a:r>
            <a:r>
              <a:rPr lang="es-ES_tradnl" sz="850" dirty="0">
                <a:latin typeface="Lato"/>
                <a:ea typeface="+mn-lt"/>
                <a:cs typeface="+mn-lt"/>
              </a:rPr>
              <a:t> data </a:t>
            </a:r>
            <a:r>
              <a:rPr lang="es-ES_tradnl" sz="850" err="1">
                <a:latin typeface="Lato"/>
                <a:ea typeface="+mn-lt"/>
                <a:cs typeface="+mn-lt"/>
              </a:rPr>
              <a:t>analytics</a:t>
            </a:r>
            <a:r>
              <a:rPr lang="es-ES_tradnl" sz="850" dirty="0">
                <a:latin typeface="Lato"/>
                <a:ea typeface="+mn-lt"/>
                <a:cs typeface="+mn-lt"/>
              </a:rPr>
              <a:t> and </a:t>
            </a:r>
            <a:r>
              <a:rPr lang="es-ES_tradnl" sz="850" err="1">
                <a:latin typeface="Lato"/>
                <a:ea typeface="+mn-lt"/>
                <a:cs typeface="+mn-lt"/>
              </a:rPr>
              <a:t>finance</a:t>
            </a:r>
            <a:r>
              <a:rPr lang="es-ES_tradnl" sz="850" dirty="0">
                <a:latin typeface="Lato"/>
                <a:ea typeface="+mn-lt"/>
                <a:cs typeface="+mn-lt"/>
              </a:rPr>
              <a:t>.</a:t>
            </a:r>
            <a:endParaRPr lang="es-ES_tradnl" sz="850" dirty="0">
              <a:latin typeface="Lato" charset="0"/>
              <a:ea typeface="Lato" charset="0"/>
              <a:cs typeface="+mn-lt"/>
            </a:endParaRPr>
          </a:p>
          <a:p>
            <a:pPr marL="6350" algn="just">
              <a:spcAft>
                <a:spcPts val="600"/>
              </a:spcAft>
              <a:tabLst>
                <a:tab pos="87313" algn="l"/>
              </a:tabLst>
            </a:pPr>
            <a:r>
              <a:rPr lang="es-ES_tradnl" sz="850" dirty="0" err="1">
                <a:latin typeface="Lato"/>
                <a:ea typeface="+mn-lt"/>
                <a:cs typeface="+mn-lt"/>
              </a:rPr>
              <a:t>One</a:t>
            </a:r>
            <a:r>
              <a:rPr lang="es-ES_tradnl" sz="850" dirty="0">
                <a:latin typeface="Lato"/>
                <a:ea typeface="+mn-lt"/>
                <a:cs typeface="+mn-lt"/>
              </a:rPr>
              <a:t> 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year</a:t>
            </a:r>
            <a:r>
              <a:rPr lang="es-ES_tradnl" sz="850" dirty="0">
                <a:latin typeface="Lato"/>
                <a:ea typeface="+mn-lt"/>
                <a:cs typeface="+mn-lt"/>
              </a:rPr>
              <a:t> 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later</a:t>
            </a:r>
            <a:r>
              <a:rPr lang="es-ES_tradnl" sz="850" dirty="0">
                <a:latin typeface="Lato"/>
                <a:ea typeface="+mn-lt"/>
                <a:cs typeface="+mn-lt"/>
              </a:rPr>
              <a:t>, I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got</a:t>
            </a:r>
            <a:r>
              <a:rPr lang="es-ES_tradnl" sz="850" dirty="0">
                <a:latin typeface="Lato"/>
                <a:ea typeface="+mn-lt"/>
                <a:cs typeface="+mn-lt"/>
              </a:rPr>
              <a:t> a full time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job</a:t>
            </a:r>
            <a:r>
              <a:rPr lang="es-ES_tradnl" sz="850" dirty="0">
                <a:latin typeface="Lato"/>
                <a:ea typeface="+mn-lt"/>
                <a:cs typeface="+mn-lt"/>
              </a:rPr>
              <a:t> in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crypto</a:t>
            </a:r>
            <a:r>
              <a:rPr lang="es-ES_tradnl" sz="850" dirty="0">
                <a:latin typeface="Lato"/>
                <a:ea typeface="+mn-lt"/>
                <a:cs typeface="+mn-lt"/>
              </a:rPr>
              <a:t> as a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smart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contract</a:t>
            </a:r>
            <a:r>
              <a:rPr lang="es-ES_tradnl" sz="850" dirty="0">
                <a:latin typeface="Lato"/>
                <a:ea typeface="+mn-lt"/>
                <a:cs typeface="+mn-lt"/>
              </a:rPr>
              <a:t> 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developer</a:t>
            </a:r>
            <a:r>
              <a:rPr lang="es-ES_tradnl" sz="850" dirty="0">
                <a:latin typeface="Lato"/>
                <a:ea typeface="+mn-lt"/>
                <a:cs typeface="+mn-lt"/>
              </a:rPr>
              <a:t>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using</a:t>
            </a:r>
            <a:r>
              <a:rPr lang="es-ES_tradnl" sz="850" dirty="0">
                <a:latin typeface="Lato"/>
                <a:ea typeface="+mn-lt"/>
                <a:cs typeface="+mn-lt"/>
              </a:rPr>
              <a:t> 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Rust</a:t>
            </a:r>
            <a:r>
              <a:rPr lang="es-ES_tradnl" sz="850" dirty="0">
                <a:latin typeface="Lato"/>
                <a:ea typeface="+mn-lt"/>
                <a:cs typeface="+mn-lt"/>
              </a:rPr>
              <a:t> in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the</a:t>
            </a:r>
            <a:r>
              <a:rPr lang="es-ES_tradnl" sz="850" dirty="0">
                <a:latin typeface="Lato"/>
                <a:ea typeface="+mn-lt"/>
                <a:cs typeface="+mn-lt"/>
              </a:rPr>
              <a:t> Cosmos </a:t>
            </a:r>
            <a:r>
              <a:rPr lang="es-ES_tradnl" sz="850" dirty="0" err="1">
                <a:latin typeface="Lato"/>
                <a:ea typeface="+mn-lt"/>
                <a:cs typeface="+mn-lt"/>
              </a:rPr>
              <a:t>ecosystem</a:t>
            </a:r>
            <a:r>
              <a:rPr lang="es-ES_tradnl" sz="850" dirty="0">
                <a:latin typeface="Lato"/>
                <a:ea typeface="+mn-lt"/>
                <a:cs typeface="+mn-lt"/>
              </a:rPr>
              <a:t>.</a:t>
            </a:r>
            <a:endParaRPr lang="es-ES_tradnl" sz="850" dirty="0">
              <a:latin typeface="Calibri"/>
              <a:ea typeface="Lato" charset="0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37995" y="506772"/>
            <a:ext cx="4987517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_tradnl" sz="4000" b="1" dirty="0">
                <a:latin typeface="Lato"/>
                <a:ea typeface="Lato"/>
                <a:cs typeface="Lato"/>
              </a:rPr>
              <a:t>NAHEM</a:t>
            </a:r>
            <a:r>
              <a:rPr lang="es-ES_tradnl" sz="3200" b="1" dirty="0">
                <a:latin typeface="Lato"/>
                <a:ea typeface="Lato"/>
                <a:cs typeface="Lato"/>
              </a:rPr>
              <a:t> </a:t>
            </a:r>
            <a:r>
              <a:rPr lang="es-ES_tradnl" sz="4000" b="1" dirty="0">
                <a:latin typeface="Lato"/>
                <a:ea typeface="Lato"/>
                <a:cs typeface="Lato"/>
              </a:rPr>
              <a:t>SEGUIAS</a:t>
            </a:r>
            <a:endParaRPr lang="es-ES_tradnl" sz="4000" b="1" dirty="0">
              <a:latin typeface="Lato" charset="0"/>
              <a:ea typeface="Lato" charset="0"/>
              <a:cs typeface="Lato" charset="0"/>
            </a:endParaRPr>
          </a:p>
          <a:p>
            <a:r>
              <a:rPr lang="en-GB" sz="2000" dirty="0">
                <a:latin typeface="Lato"/>
                <a:ea typeface="Lato"/>
                <a:cs typeface="Lato"/>
              </a:rPr>
              <a:t>BLOCKCHAIN DEVELOPER</a:t>
            </a:r>
            <a:endParaRPr lang="es-ES_tradnl" sz="2000" dirty="0">
              <a:latin typeface="Lato" charset="0"/>
              <a:ea typeface="Lato" charset="0"/>
              <a:cs typeface="Lato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77901" y="8564929"/>
            <a:ext cx="283482" cy="224412"/>
            <a:chOff x="423129" y="5082596"/>
            <a:chExt cx="323153" cy="262428"/>
          </a:xfrm>
          <a:noFill/>
        </p:grpSpPr>
        <p:sp>
          <p:nvSpPr>
            <p:cNvPr id="18" name="Flowchart: Process 17"/>
            <p:cNvSpPr/>
            <p:nvPr/>
          </p:nvSpPr>
          <p:spPr>
            <a:xfrm>
              <a:off x="423129" y="5082596"/>
              <a:ext cx="314225" cy="262428"/>
            </a:xfrm>
            <a:prstGeom prst="flowChartProcess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428121" y="5117360"/>
              <a:ext cx="165432" cy="13121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583009" y="5117360"/>
              <a:ext cx="163273" cy="13121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52608" y="8154350"/>
            <a:ext cx="324038" cy="32403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69520" y="8922254"/>
            <a:ext cx="291862" cy="286741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2673605" y="2048315"/>
            <a:ext cx="340665" cy="209353"/>
            <a:chOff x="487953" y="1603273"/>
            <a:chExt cx="258329" cy="145507"/>
          </a:xfrm>
        </p:grpSpPr>
        <p:sp>
          <p:nvSpPr>
            <p:cNvPr id="45" name="Minus 44"/>
            <p:cNvSpPr/>
            <p:nvPr/>
          </p:nvSpPr>
          <p:spPr>
            <a:xfrm>
              <a:off x="487953" y="1603273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46" name="Minus 45"/>
            <p:cNvSpPr/>
            <p:nvPr/>
          </p:nvSpPr>
          <p:spPr>
            <a:xfrm>
              <a:off x="487953" y="1653167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47" name="Minus 46"/>
            <p:cNvSpPr/>
            <p:nvPr/>
          </p:nvSpPr>
          <p:spPr>
            <a:xfrm>
              <a:off x="487953" y="1703061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694370" y="6792087"/>
            <a:ext cx="340665" cy="209353"/>
            <a:chOff x="487953" y="1603273"/>
            <a:chExt cx="258329" cy="145507"/>
          </a:xfrm>
        </p:grpSpPr>
        <p:sp>
          <p:nvSpPr>
            <p:cNvPr id="56" name="Minus 55"/>
            <p:cNvSpPr/>
            <p:nvPr/>
          </p:nvSpPr>
          <p:spPr>
            <a:xfrm>
              <a:off x="487953" y="1603273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57" name="Minus 56"/>
            <p:cNvSpPr/>
            <p:nvPr/>
          </p:nvSpPr>
          <p:spPr>
            <a:xfrm>
              <a:off x="487953" y="1653167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58" name="Minus 57"/>
            <p:cNvSpPr/>
            <p:nvPr/>
          </p:nvSpPr>
          <p:spPr>
            <a:xfrm>
              <a:off x="487953" y="1703061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231549" y="2042772"/>
            <a:ext cx="340665" cy="209353"/>
            <a:chOff x="487953" y="1603273"/>
            <a:chExt cx="258329" cy="145507"/>
          </a:xfrm>
        </p:grpSpPr>
        <p:sp>
          <p:nvSpPr>
            <p:cNvPr id="147" name="Minus 55"/>
            <p:cNvSpPr/>
            <p:nvPr/>
          </p:nvSpPr>
          <p:spPr>
            <a:xfrm>
              <a:off x="487953" y="1603273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48" name="Minus 56"/>
            <p:cNvSpPr/>
            <p:nvPr/>
          </p:nvSpPr>
          <p:spPr>
            <a:xfrm>
              <a:off x="487953" y="1653167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49" name="Minus 57"/>
            <p:cNvSpPr/>
            <p:nvPr/>
          </p:nvSpPr>
          <p:spPr>
            <a:xfrm>
              <a:off x="487953" y="1703061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227483" y="4225240"/>
            <a:ext cx="340665" cy="209353"/>
            <a:chOff x="487953" y="1603273"/>
            <a:chExt cx="258329" cy="145507"/>
          </a:xfrm>
        </p:grpSpPr>
        <p:sp>
          <p:nvSpPr>
            <p:cNvPr id="156" name="Minus 55"/>
            <p:cNvSpPr/>
            <p:nvPr/>
          </p:nvSpPr>
          <p:spPr>
            <a:xfrm>
              <a:off x="487953" y="1603273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57" name="Minus 56"/>
            <p:cNvSpPr/>
            <p:nvPr/>
          </p:nvSpPr>
          <p:spPr>
            <a:xfrm>
              <a:off x="487953" y="1653167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58" name="Minus 57"/>
            <p:cNvSpPr/>
            <p:nvPr/>
          </p:nvSpPr>
          <p:spPr>
            <a:xfrm>
              <a:off x="487953" y="1703061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</p:grpSp>
      <p:sp>
        <p:nvSpPr>
          <p:cNvPr id="164" name="TextBox 163"/>
          <p:cNvSpPr txBox="1"/>
          <p:nvPr/>
        </p:nvSpPr>
        <p:spPr>
          <a:xfrm>
            <a:off x="136114" y="7441803"/>
            <a:ext cx="2243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7188"/>
            <a:r>
              <a:rPr lang="es-ES_tradnl" sz="1200" b="1" dirty="0">
                <a:latin typeface="Lato" charset="0"/>
                <a:ea typeface="Lato" charset="0"/>
                <a:cs typeface="Lato" charset="0"/>
              </a:rPr>
              <a:t> CONTACT</a:t>
            </a:r>
          </a:p>
        </p:txBody>
      </p:sp>
      <p:grpSp>
        <p:nvGrpSpPr>
          <p:cNvPr id="165" name="Group 164"/>
          <p:cNvGrpSpPr/>
          <p:nvPr/>
        </p:nvGrpSpPr>
        <p:grpSpPr>
          <a:xfrm>
            <a:off x="235373" y="7474581"/>
            <a:ext cx="340665" cy="209353"/>
            <a:chOff x="487953" y="1603273"/>
            <a:chExt cx="258329" cy="145507"/>
          </a:xfrm>
        </p:grpSpPr>
        <p:sp>
          <p:nvSpPr>
            <p:cNvPr id="166" name="Minus 55"/>
            <p:cNvSpPr/>
            <p:nvPr/>
          </p:nvSpPr>
          <p:spPr>
            <a:xfrm>
              <a:off x="487953" y="1603273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67" name="Minus 56"/>
            <p:cNvSpPr/>
            <p:nvPr/>
          </p:nvSpPr>
          <p:spPr>
            <a:xfrm>
              <a:off x="487953" y="1653167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68" name="Minus 57"/>
            <p:cNvSpPr/>
            <p:nvPr/>
          </p:nvSpPr>
          <p:spPr>
            <a:xfrm>
              <a:off x="487953" y="1703061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352608" y="7783026"/>
            <a:ext cx="327035" cy="32703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3619" y="5796614"/>
            <a:ext cx="2243318" cy="15465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45770">
              <a:lnSpc>
                <a:spcPct val="150000"/>
              </a:lnSpc>
            </a:pPr>
            <a:r>
              <a:rPr lang="es-ES_tradnl" sz="1200" b="1" dirty="0">
                <a:latin typeface="Lato"/>
                <a:ea typeface="Lato"/>
                <a:cs typeface="Lato"/>
              </a:rPr>
              <a:t> TECH SKILLS</a:t>
            </a:r>
            <a:endParaRPr lang="es-ES_tradnl" sz="1200" dirty="0">
              <a:latin typeface="Lato" charset="0"/>
              <a:ea typeface="Lato" charset="0"/>
              <a:cs typeface="Lato" charset="0"/>
            </a:endParaRPr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 </a:t>
            </a:r>
            <a:r>
              <a:rPr lang="es-ES" sz="850" dirty="0" err="1">
                <a:latin typeface="Lato"/>
                <a:ea typeface="Lato"/>
                <a:cs typeface="Lato"/>
              </a:rPr>
              <a:t>Financial</a:t>
            </a:r>
            <a:r>
              <a:rPr lang="es-ES" sz="850" dirty="0">
                <a:latin typeface="Lato"/>
                <a:ea typeface="Lato"/>
                <a:cs typeface="Lato"/>
              </a:rPr>
              <a:t> </a:t>
            </a:r>
            <a:r>
              <a:rPr lang="es-ES" sz="850" dirty="0" err="1">
                <a:latin typeface="Lato"/>
                <a:ea typeface="Lato"/>
                <a:cs typeface="Lato"/>
              </a:rPr>
              <a:t>Markets</a:t>
            </a:r>
            <a:r>
              <a:rPr lang="es-ES" sz="850" dirty="0">
                <a:latin typeface="Lato"/>
                <a:ea typeface="Lato"/>
                <a:cs typeface="Lato"/>
              </a:rPr>
              <a:t> &amp; </a:t>
            </a:r>
            <a:r>
              <a:rPr lang="es-ES" sz="850" dirty="0" err="1">
                <a:latin typeface="Lato"/>
                <a:ea typeface="Lato"/>
                <a:cs typeface="Lato"/>
              </a:rPr>
              <a:t>Crypto</a:t>
            </a:r>
            <a:endParaRPr lang="es-ES" sz="850" dirty="0" err="1">
              <a:ea typeface="+mn-lt"/>
              <a:cs typeface="+mn-lt"/>
            </a:endParaRPr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 </a:t>
            </a:r>
            <a:r>
              <a:rPr lang="es-ES" sz="850" dirty="0" err="1">
                <a:latin typeface="Lato"/>
                <a:ea typeface="Lato"/>
                <a:cs typeface="Lato"/>
              </a:rPr>
              <a:t>Rust</a:t>
            </a:r>
            <a:r>
              <a:rPr lang="es-ES" sz="850" dirty="0">
                <a:latin typeface="Lato"/>
                <a:ea typeface="Lato"/>
                <a:cs typeface="Lato"/>
              </a:rPr>
              <a:t>, </a:t>
            </a:r>
            <a:r>
              <a:rPr lang="es-ES" sz="850" dirty="0" err="1">
                <a:latin typeface="Lato"/>
                <a:ea typeface="Lato"/>
                <a:cs typeface="Lato"/>
              </a:rPr>
              <a:t>CosmWasm</a:t>
            </a:r>
            <a:r>
              <a:rPr lang="es-ES" sz="850" dirty="0">
                <a:latin typeface="Lato"/>
                <a:ea typeface="Lato"/>
                <a:cs typeface="Lato"/>
              </a:rPr>
              <a:t>, Python, </a:t>
            </a:r>
            <a:r>
              <a:rPr lang="es-ES" sz="850" dirty="0" err="1">
                <a:latin typeface="Lato"/>
                <a:ea typeface="Lato"/>
                <a:cs typeface="Lato"/>
              </a:rPr>
              <a:t>Solidity</a:t>
            </a:r>
            <a:endParaRPr lang="es-ES" sz="850" dirty="0">
              <a:ea typeface="+mn-lt"/>
              <a:cs typeface="+mn-lt"/>
            </a:endParaRPr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 </a:t>
            </a:r>
            <a:r>
              <a:rPr lang="es-ES" sz="850" dirty="0" err="1">
                <a:latin typeface="Lato"/>
                <a:ea typeface="Lato"/>
                <a:cs typeface="Lato"/>
              </a:rPr>
              <a:t>Automation</a:t>
            </a:r>
            <a:endParaRPr lang="es-ES" sz="850" dirty="0" err="1">
              <a:ea typeface="+mn-lt"/>
              <a:cs typeface="+mn-lt"/>
            </a:endParaRPr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 Machine </a:t>
            </a:r>
            <a:r>
              <a:rPr lang="es-ES" sz="850" dirty="0" err="1">
                <a:latin typeface="Lato"/>
                <a:ea typeface="Lato"/>
                <a:cs typeface="Lato"/>
              </a:rPr>
              <a:t>Learning</a:t>
            </a:r>
            <a:r>
              <a:rPr lang="es-ES" sz="850" dirty="0">
                <a:latin typeface="Lato"/>
                <a:ea typeface="Lato"/>
                <a:cs typeface="Lato"/>
              </a:rPr>
              <a:t> &amp; AI</a:t>
            </a:r>
            <a:endParaRPr lang="es-ES"/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 </a:t>
            </a:r>
            <a:r>
              <a:rPr lang="es-ES" sz="850" dirty="0" err="1">
                <a:latin typeface="Lato"/>
                <a:ea typeface="Lato"/>
                <a:cs typeface="Lato"/>
              </a:rPr>
              <a:t>Algorithmic</a:t>
            </a:r>
            <a:r>
              <a:rPr lang="es-ES" sz="850" dirty="0">
                <a:latin typeface="Lato"/>
                <a:ea typeface="Lato"/>
                <a:cs typeface="Lato"/>
              </a:rPr>
              <a:t> Trading</a:t>
            </a:r>
            <a:endParaRPr lang="es-ES" sz="850" dirty="0">
              <a:ea typeface="+mn-lt"/>
              <a:cs typeface="+mn-lt"/>
            </a:endParaRPr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 Data </a:t>
            </a:r>
            <a:r>
              <a:rPr lang="es-ES" sz="850" dirty="0" err="1">
                <a:latin typeface="Lato"/>
                <a:ea typeface="Lato"/>
                <a:cs typeface="Lato"/>
              </a:rPr>
              <a:t>Analytics</a:t>
            </a:r>
            <a:r>
              <a:rPr lang="es-ES" sz="850" dirty="0">
                <a:latin typeface="Lato"/>
                <a:ea typeface="Lato"/>
                <a:cs typeface="Lato"/>
              </a:rPr>
              <a:t> &amp; </a:t>
            </a:r>
            <a:r>
              <a:rPr lang="es-ES" sz="850" dirty="0" err="1">
                <a:latin typeface="Lato"/>
                <a:ea typeface="Lato"/>
                <a:cs typeface="Lato"/>
              </a:rPr>
              <a:t>visualization</a:t>
            </a:r>
            <a:r>
              <a:rPr lang="es-ES" sz="850" dirty="0">
                <a:latin typeface="Lato"/>
                <a:ea typeface="Lato"/>
                <a:cs typeface="Lato"/>
              </a:rPr>
              <a:t>.</a:t>
            </a:r>
            <a:endParaRPr lang="es-ES" sz="850" dirty="0" err="1">
              <a:ea typeface="+mn-lt"/>
              <a:cs typeface="+mn-lt"/>
            </a:endParaRPr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 Cloud: AWS, Azure, and GCP</a:t>
            </a:r>
          </a:p>
          <a:p>
            <a:r>
              <a:rPr lang="es-ES" sz="850" dirty="0">
                <a:latin typeface="Lato"/>
                <a:ea typeface="Lato"/>
                <a:cs typeface="Lato"/>
              </a:rPr>
              <a:t>         - </a:t>
            </a:r>
            <a:r>
              <a:rPr lang="es-ES" sz="850" dirty="0" err="1">
                <a:latin typeface="Lato"/>
                <a:ea typeface="Lato"/>
                <a:cs typeface="Lato"/>
              </a:rPr>
              <a:t>Routing</a:t>
            </a:r>
            <a:r>
              <a:rPr lang="es-ES" sz="850" dirty="0">
                <a:latin typeface="Lato"/>
                <a:ea typeface="Lato"/>
                <a:cs typeface="Lato"/>
              </a:rPr>
              <a:t> &amp; </a:t>
            </a:r>
            <a:r>
              <a:rPr lang="es-ES" sz="850" dirty="0" err="1">
                <a:latin typeface="Lato"/>
                <a:ea typeface="Lato"/>
                <a:cs typeface="Lato"/>
              </a:rPr>
              <a:t>Switching</a:t>
            </a:r>
            <a:endParaRPr lang="es-ES" sz="850">
              <a:latin typeface="Lato"/>
              <a:ea typeface="Lato"/>
              <a:cs typeface="Lato"/>
            </a:endParaRPr>
          </a:p>
          <a:p>
            <a:endParaRPr lang="es-ES" sz="850" dirty="0">
              <a:latin typeface="Lato"/>
              <a:ea typeface="Lato"/>
              <a:cs typeface="Lato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226432" y="5877140"/>
            <a:ext cx="340665" cy="209353"/>
            <a:chOff x="487953" y="1603273"/>
            <a:chExt cx="258329" cy="145507"/>
          </a:xfrm>
        </p:grpSpPr>
        <p:sp>
          <p:nvSpPr>
            <p:cNvPr id="63" name="Minus 55"/>
            <p:cNvSpPr/>
            <p:nvPr/>
          </p:nvSpPr>
          <p:spPr>
            <a:xfrm>
              <a:off x="487953" y="1603273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65" name="Minus 56"/>
            <p:cNvSpPr/>
            <p:nvPr/>
          </p:nvSpPr>
          <p:spPr>
            <a:xfrm>
              <a:off x="487953" y="1653167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66" name="Minus 57"/>
            <p:cNvSpPr/>
            <p:nvPr/>
          </p:nvSpPr>
          <p:spPr>
            <a:xfrm>
              <a:off x="487953" y="1703061"/>
              <a:ext cx="258329" cy="45719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_tradnl" sz="850" dirty="0">
                <a:latin typeface="Lato" charset="0"/>
                <a:ea typeface="Lato" charset="0"/>
                <a:cs typeface="Lato" charset="0"/>
              </a:endParaRPr>
            </a:p>
          </p:txBody>
        </p:sp>
      </p:grpSp>
      <p:pic>
        <p:nvPicPr>
          <p:cNvPr id="3" name="Picture 4">
            <a:extLst>
              <a:ext uri="{FF2B5EF4-FFF2-40B4-BE49-F238E27FC236}">
                <a16:creationId xmlns:a16="http://schemas.microsoft.com/office/drawing/2014/main" id="{C0D4F5E5-5476-91CA-2541-6DCF478FC44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9353" b="8633"/>
          <a:stretch/>
        </p:blipFill>
        <p:spPr>
          <a:xfrm>
            <a:off x="505705" y="309237"/>
            <a:ext cx="1364626" cy="140827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762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19952</TotalTime>
  <Words>194</Words>
  <Application>Microsoft Office PowerPoint</Application>
  <PresentationFormat>A4 Paper (210x297 mm)</PresentationFormat>
  <Paragraphs>82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nahem seguias</dc:creator>
  <cp:lastModifiedBy>Nahem Seguias</cp:lastModifiedBy>
  <cp:revision>1342</cp:revision>
  <cp:lastPrinted>2017-05-11T20:50:23Z</cp:lastPrinted>
  <dcterms:created xsi:type="dcterms:W3CDTF">2017-01-16T20:08:49Z</dcterms:created>
  <dcterms:modified xsi:type="dcterms:W3CDTF">2022-10-04T11:02:47Z</dcterms:modified>
</cp:coreProperties>
</file>